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3" r:id="rId4"/>
    <p:sldId id="257" r:id="rId5"/>
    <p:sldId id="260" r:id="rId6"/>
    <p:sldId id="264" r:id="rId7"/>
    <p:sldId id="265" r:id="rId8"/>
  </p:sldIdLst>
  <p:sldSz cx="12192000" cy="6858000"/>
  <p:notesSz cx="6858000" cy="9144000"/>
  <p:embeddedFontLst>
    <p:embeddedFont>
      <p:font typeface="Play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rOluTC46jYVT4Ndh1mA5fq9ip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744928" y="3743174"/>
            <a:ext cx="106407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4000" dirty="0">
                <a:solidFill>
                  <a:schemeClr val="dk2"/>
                </a:solidFill>
              </a:rPr>
              <a:t>Introduction to Python and AI Assisted Coding</a:t>
            </a:r>
            <a:br>
              <a:rPr lang="en-US" sz="4000" dirty="0">
                <a:solidFill>
                  <a:schemeClr val="dk2"/>
                </a:solidFill>
              </a:rPr>
            </a:br>
            <a:r>
              <a:rPr lang="en-US" sz="4000" dirty="0">
                <a:solidFill>
                  <a:schemeClr val="dk2"/>
                </a:solidFill>
              </a:rPr>
              <a:t>Anatomy of a Function</a:t>
            </a:r>
            <a:endParaRPr dirty="0"/>
          </a:p>
        </p:txBody>
      </p:sp>
      <p:grpSp>
        <p:nvGrpSpPr>
          <p:cNvPr id="87" name="Google Shape;87;p1"/>
          <p:cNvGrpSpPr/>
          <p:nvPr/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8" name="Google Shape;88;p1"/>
            <p:cNvSpPr/>
            <p:nvPr/>
          </p:nvSpPr>
          <p:spPr>
            <a:xfrm>
              <a:off x="-305" y="0"/>
              <a:ext cx="2514948" cy="2170178"/>
            </a:xfrm>
            <a:custGeom>
              <a:avLst/>
              <a:gdLst/>
              <a:ahLst/>
              <a:cxnLst/>
              <a:rect l="l" t="t" r="r" b="b"/>
              <a:pathLst>
                <a:path w="2514948" h="2170178" extrusionOk="0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-305" y="-4155"/>
              <a:ext cx="2493062" cy="1947896"/>
            </a:xfrm>
            <a:custGeom>
              <a:avLst/>
              <a:gdLst/>
              <a:ahLst/>
              <a:cxnLst/>
              <a:rect l="l" t="t" r="r" b="b"/>
              <a:pathLst>
                <a:path w="2493062" h="1947896" extrusionOk="0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-305" y="0"/>
              <a:ext cx="2501089" cy="1972702"/>
            </a:xfrm>
            <a:custGeom>
              <a:avLst/>
              <a:gdLst/>
              <a:ahLst/>
              <a:cxnLst/>
              <a:rect l="l" t="t" r="r" b="b"/>
              <a:pathLst>
                <a:path w="2501089" h="1972702" extrusionOk="0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305" y="1"/>
              <a:ext cx="2491105" cy="1943661"/>
            </a:xfrm>
            <a:custGeom>
              <a:avLst/>
              <a:gdLst/>
              <a:ahLst/>
              <a:cxnLst/>
              <a:rect l="l" t="t" r="r" b="b"/>
              <a:pathLst>
                <a:path w="2491105" h="1943661" extrusionOk="0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94" name="Google Shape;94;p1"/>
            <p:cNvSpPr/>
            <p:nvPr/>
          </p:nvSpPr>
          <p:spPr>
            <a:xfrm>
              <a:off x="305" y="1"/>
              <a:ext cx="3815424" cy="2653659"/>
            </a:xfrm>
            <a:custGeom>
              <a:avLst/>
              <a:gdLst/>
              <a:ahLst/>
              <a:cxnLst/>
              <a:rect l="l" t="t" r="r" b="b"/>
              <a:pathLst>
                <a:path w="3815424" h="2653659" extrusionOk="0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305" y="-1"/>
              <a:ext cx="3815424" cy="2653660"/>
            </a:xfrm>
            <a:custGeom>
              <a:avLst/>
              <a:gdLst/>
              <a:ahLst/>
              <a:cxnLst/>
              <a:rect l="l" t="t" r="r" b="b"/>
              <a:pathLst>
                <a:path w="3815424" h="2653660" extrusionOk="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-305" y="1"/>
              <a:ext cx="3815986" cy="2675935"/>
            </a:xfrm>
            <a:custGeom>
              <a:avLst/>
              <a:gdLst/>
              <a:ahLst/>
              <a:cxnLst/>
              <a:rect l="l" t="t" r="r" b="b"/>
              <a:pathLst>
                <a:path w="3815986" h="2675935" extrusionOk="0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05" y="-1"/>
              <a:ext cx="3832270" cy="2876136"/>
            </a:xfrm>
            <a:custGeom>
              <a:avLst/>
              <a:gdLst/>
              <a:ahLst/>
              <a:cxnLst/>
              <a:rect l="l" t="t" r="r" b="b"/>
              <a:pathLst>
                <a:path w="3832270" h="2876136" extrusionOk="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26" name="Picture 2" descr="Defining Your Own Python Function – Real Python">
            <a:extLst>
              <a:ext uri="{FF2B5EF4-FFF2-40B4-BE49-F238E27FC236}">
                <a16:creationId xmlns:a16="http://schemas.microsoft.com/office/drawing/2014/main" id="{7FD86D7D-18E9-790A-2D62-147804986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736" y="0"/>
            <a:ext cx="6035084" cy="339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90011-CC91-A329-5D75-01AF33F1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14E6-7AEC-B9EE-C1AF-4169B6C6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0922"/>
            <a:ext cx="12192000" cy="289908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Functions we have used so far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721D0C-5F3C-341E-0604-90B2EAE18229}"/>
              </a:ext>
            </a:extLst>
          </p:cNvPr>
          <p:cNvSpPr txBox="1"/>
          <p:nvPr/>
        </p:nvSpPr>
        <p:spPr>
          <a:xfrm>
            <a:off x="405036" y="1681814"/>
            <a:ext cx="1139624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print()</a:t>
            </a:r>
          </a:p>
          <a:p>
            <a:pPr algn="ctr"/>
            <a:r>
              <a:rPr lang="en-US" sz="2400" dirty="0" err="1"/>
              <a:t>len</a:t>
            </a:r>
            <a:r>
              <a:rPr lang="en-US" sz="2400" dirty="0"/>
              <a:t>()</a:t>
            </a:r>
          </a:p>
          <a:p>
            <a:pPr algn="ctr"/>
            <a:r>
              <a:rPr lang="en-US" sz="2400" dirty="0"/>
              <a:t>type()</a:t>
            </a:r>
          </a:p>
          <a:p>
            <a:pPr algn="ctr"/>
            <a:r>
              <a:rPr lang="en-US" sz="2400" dirty="0"/>
              <a:t>int()</a:t>
            </a:r>
          </a:p>
          <a:p>
            <a:pPr algn="ctr"/>
            <a:r>
              <a:rPr lang="en-US" sz="2400" dirty="0"/>
              <a:t>float()</a:t>
            </a:r>
          </a:p>
          <a:p>
            <a:pPr algn="ctr"/>
            <a:r>
              <a:rPr lang="en-US" sz="2400" dirty="0"/>
              <a:t>str()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3600" b="1" dirty="0"/>
              <a:t>*But what if I wanted to make my own function?*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946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BF95-5698-8E87-5565-DEB102A9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E9FB-0DD9-78C3-BDB7-C7FB6B13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0922"/>
            <a:ext cx="12192000" cy="289908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How would we function without functions?</a:t>
            </a:r>
          </a:p>
        </p:txBody>
      </p:sp>
      <p:pic>
        <p:nvPicPr>
          <p:cNvPr id="2054" name="Picture 6" descr="r/funny - Teach to Fish [OC]">
            <a:extLst>
              <a:ext uri="{FF2B5EF4-FFF2-40B4-BE49-F238E27FC236}">
                <a16:creationId xmlns:a16="http://schemas.microsoft.com/office/drawing/2014/main" id="{3A71F7D4-3A1B-403E-EAD7-5029892464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70"/>
          <a:stretch>
            <a:fillRect/>
          </a:stretch>
        </p:blipFill>
        <p:spPr bwMode="auto">
          <a:xfrm>
            <a:off x="2974358" y="988161"/>
            <a:ext cx="6096000" cy="561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9B3C60-F425-2B4A-3CE0-CD317B87E0E4}"/>
              </a:ext>
            </a:extLst>
          </p:cNvPr>
          <p:cNvSpPr txBox="1"/>
          <p:nvPr/>
        </p:nvSpPr>
        <p:spPr>
          <a:xfrm>
            <a:off x="3272509" y="1427839"/>
            <a:ext cx="267032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Give a developer a working script, and the task gets done once.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28807-F19B-E6B1-5D1B-9C0583B71C5A}"/>
              </a:ext>
            </a:extLst>
          </p:cNvPr>
          <p:cNvSpPr txBox="1"/>
          <p:nvPr/>
        </p:nvSpPr>
        <p:spPr>
          <a:xfrm>
            <a:off x="6178848" y="1447477"/>
            <a:ext cx="26081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Teach a developer to write functions, and they reuse code forever.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4FD42-3413-1868-E890-B1F84A4A2EF0}"/>
              </a:ext>
            </a:extLst>
          </p:cNvPr>
          <p:cNvSpPr txBox="1"/>
          <p:nvPr/>
        </p:nvSpPr>
        <p:spPr>
          <a:xfrm>
            <a:off x="3293221" y="5775978"/>
            <a:ext cx="2649612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Replace the developer with an AI that writes Python functions automatically to maximize productivity and eliminate human error.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0F761-832B-2E1F-D289-D0F5128A18EC}"/>
              </a:ext>
            </a:extLst>
          </p:cNvPr>
          <p:cNvSpPr txBox="1"/>
          <p:nvPr/>
        </p:nvSpPr>
        <p:spPr>
          <a:xfrm>
            <a:off x="6114411" y="4083510"/>
            <a:ext cx="2691036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I don’t know… maybe that developer can write prompts for the AI.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72023-54EA-61AE-A512-924312E0E775}"/>
              </a:ext>
            </a:extLst>
          </p:cNvPr>
          <p:cNvSpPr txBox="1"/>
          <p:nvPr/>
        </p:nvSpPr>
        <p:spPr>
          <a:xfrm>
            <a:off x="6137424" y="5980879"/>
            <a:ext cx="2649612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At least until the AI learns to think for itself.</a:t>
            </a:r>
          </a:p>
        </p:txBody>
      </p:sp>
    </p:spTree>
    <p:extLst>
      <p:ext uri="{BB962C8B-B14F-4D97-AF65-F5344CB8AC3E}">
        <p14:creationId xmlns:p14="http://schemas.microsoft.com/office/powerpoint/2010/main" val="933199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65E3-C1E4-F336-3269-B66045AD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0922"/>
            <a:ext cx="12192000" cy="289908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How would we function without functions?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997FE-0C15-A493-18A9-BA75D4ED13EE}"/>
              </a:ext>
            </a:extLst>
          </p:cNvPr>
          <p:cNvSpPr txBox="1"/>
          <p:nvPr/>
        </p:nvSpPr>
        <p:spPr>
          <a:xfrm>
            <a:off x="2006434" y="1681814"/>
            <a:ext cx="79779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Getting the average of a list of numbers WITHOUT functions:</a:t>
            </a:r>
          </a:p>
          <a:p>
            <a:pPr algn="ctr"/>
            <a:endParaRPr lang="en-US" sz="2400" b="1" dirty="0"/>
          </a:p>
          <a:p>
            <a:r>
              <a:rPr lang="en-US" sz="2400" dirty="0" err="1"/>
              <a:t>my_numbers</a:t>
            </a:r>
            <a:r>
              <a:rPr lang="en-US" sz="2400" dirty="0"/>
              <a:t> = [10, 20, 30, 40, 50]</a:t>
            </a:r>
          </a:p>
          <a:p>
            <a:r>
              <a:rPr lang="en-US" sz="2400" dirty="0" err="1"/>
              <a:t>sum_numbers</a:t>
            </a:r>
            <a:r>
              <a:rPr lang="en-US" sz="2400" dirty="0"/>
              <a:t> = 0</a:t>
            </a:r>
          </a:p>
          <a:p>
            <a:r>
              <a:rPr lang="en-US" sz="2400" dirty="0" err="1"/>
              <a:t>length_numbers</a:t>
            </a:r>
            <a:r>
              <a:rPr lang="en-US" sz="2400" dirty="0"/>
              <a:t> = 0</a:t>
            </a:r>
          </a:p>
          <a:p>
            <a:endParaRPr lang="en-US" sz="2400" dirty="0"/>
          </a:p>
          <a:p>
            <a:r>
              <a:rPr lang="en-US" sz="2400" dirty="0"/>
              <a:t>for i in </a:t>
            </a:r>
            <a:r>
              <a:rPr lang="en-US" sz="2400" dirty="0" err="1"/>
              <a:t>my_numbers</a:t>
            </a:r>
            <a:r>
              <a:rPr lang="en-US" sz="2400" dirty="0"/>
              <a:t>: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sum_numbers</a:t>
            </a:r>
            <a:r>
              <a:rPr lang="en-US" sz="2400" dirty="0"/>
              <a:t> += I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length_numbers</a:t>
            </a:r>
            <a:r>
              <a:rPr lang="en-US" sz="2400" dirty="0"/>
              <a:t> +=1</a:t>
            </a:r>
          </a:p>
          <a:p>
            <a:r>
              <a:rPr lang="en-US" sz="2400" dirty="0"/>
              <a:t>average = </a:t>
            </a:r>
            <a:r>
              <a:rPr lang="en-US" sz="2400" dirty="0" err="1"/>
              <a:t>sum_numbers</a:t>
            </a:r>
            <a:r>
              <a:rPr lang="en-US" sz="2400" dirty="0"/>
              <a:t> / </a:t>
            </a:r>
            <a:r>
              <a:rPr lang="en-US" sz="2400" dirty="0" err="1"/>
              <a:t>length_numbers</a:t>
            </a:r>
            <a:endParaRPr lang="en-US" sz="2400" dirty="0"/>
          </a:p>
          <a:p>
            <a:r>
              <a:rPr lang="en-US" sz="2400" dirty="0"/>
              <a:t>print(average)</a:t>
            </a:r>
          </a:p>
        </p:txBody>
      </p:sp>
    </p:spTree>
    <p:extLst>
      <p:ext uri="{BB962C8B-B14F-4D97-AF65-F5344CB8AC3E}">
        <p14:creationId xmlns:p14="http://schemas.microsoft.com/office/powerpoint/2010/main" val="192322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55A33-70F5-E795-2349-DD8BE9A4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7A67-7100-DC6A-2670-833244AB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62535"/>
            <a:ext cx="12192000" cy="289908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How would we function without functions?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F5D32-9DE9-CB61-D517-4BA19066DA2B}"/>
              </a:ext>
            </a:extLst>
          </p:cNvPr>
          <p:cNvSpPr txBox="1"/>
          <p:nvPr/>
        </p:nvSpPr>
        <p:spPr>
          <a:xfrm>
            <a:off x="163651" y="859286"/>
            <a:ext cx="365179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u="sng" dirty="0"/>
              <a:t>Getting the average of a list of numbers WITHOUT functions:</a:t>
            </a:r>
          </a:p>
          <a:p>
            <a:pPr algn="ctr"/>
            <a:endParaRPr lang="en-US" sz="900" b="1" u="sng" dirty="0"/>
          </a:p>
          <a:p>
            <a:pPr algn="ctr"/>
            <a:endParaRPr lang="en-US" sz="900" b="1" dirty="0"/>
          </a:p>
          <a:p>
            <a:r>
              <a:rPr lang="en-US" sz="900" dirty="0" err="1">
                <a:highlight>
                  <a:srgbClr val="C0C0C0"/>
                </a:highlight>
              </a:rPr>
              <a:t>my_numbers</a:t>
            </a:r>
            <a:r>
              <a:rPr lang="en-US" sz="900" dirty="0">
                <a:highlight>
                  <a:srgbClr val="C0C0C0"/>
                </a:highlight>
              </a:rPr>
              <a:t> = [10, 20, 30, 40, 50]</a:t>
            </a:r>
          </a:p>
          <a:p>
            <a:r>
              <a:rPr lang="en-US" sz="900" dirty="0" err="1">
                <a:highlight>
                  <a:srgbClr val="C0C0C0"/>
                </a:highlight>
              </a:rPr>
              <a:t>sum_numbers</a:t>
            </a:r>
            <a:r>
              <a:rPr lang="en-US" sz="900" dirty="0">
                <a:highlight>
                  <a:srgbClr val="C0C0C0"/>
                </a:highlight>
              </a:rPr>
              <a:t> = 0</a:t>
            </a:r>
          </a:p>
          <a:p>
            <a:r>
              <a:rPr lang="en-US" sz="900" dirty="0" err="1">
                <a:highlight>
                  <a:srgbClr val="C0C0C0"/>
                </a:highlight>
              </a:rPr>
              <a:t>length_numbers</a:t>
            </a:r>
            <a:r>
              <a:rPr lang="en-US" sz="900" dirty="0">
                <a:highlight>
                  <a:srgbClr val="C0C0C0"/>
                </a:highlight>
              </a:rPr>
              <a:t> = 0</a:t>
            </a:r>
          </a:p>
          <a:p>
            <a:endParaRPr lang="en-US" sz="900" dirty="0">
              <a:highlight>
                <a:srgbClr val="C0C0C0"/>
              </a:highlight>
            </a:endParaRPr>
          </a:p>
          <a:p>
            <a:r>
              <a:rPr lang="en-US" sz="900" dirty="0">
                <a:highlight>
                  <a:srgbClr val="C0C0C0"/>
                </a:highlight>
              </a:rPr>
              <a:t>for i in </a:t>
            </a:r>
            <a:r>
              <a:rPr lang="en-US" sz="900" dirty="0" err="1">
                <a:highlight>
                  <a:srgbClr val="C0C0C0"/>
                </a:highlight>
              </a:rPr>
              <a:t>my_numbers</a:t>
            </a:r>
            <a:r>
              <a:rPr lang="en-US" sz="900" dirty="0">
                <a:highlight>
                  <a:srgbClr val="C0C0C0"/>
                </a:highlight>
              </a:rPr>
              <a:t>:</a:t>
            </a:r>
          </a:p>
          <a:p>
            <a:r>
              <a:rPr lang="en-US" sz="900" dirty="0">
                <a:highlight>
                  <a:srgbClr val="C0C0C0"/>
                </a:highlight>
              </a:rPr>
              <a:t>	</a:t>
            </a:r>
            <a:r>
              <a:rPr lang="en-US" sz="900" dirty="0" err="1">
                <a:highlight>
                  <a:srgbClr val="C0C0C0"/>
                </a:highlight>
              </a:rPr>
              <a:t>sum_numbers</a:t>
            </a:r>
            <a:r>
              <a:rPr lang="en-US" sz="900" dirty="0">
                <a:highlight>
                  <a:srgbClr val="C0C0C0"/>
                </a:highlight>
              </a:rPr>
              <a:t> += I</a:t>
            </a:r>
          </a:p>
          <a:p>
            <a:r>
              <a:rPr lang="en-US" sz="900" dirty="0" err="1">
                <a:highlight>
                  <a:srgbClr val="C0C0C0"/>
                </a:highlight>
              </a:rPr>
              <a:t>length_numbers</a:t>
            </a:r>
            <a:r>
              <a:rPr lang="en-US" sz="900" dirty="0">
                <a:highlight>
                  <a:srgbClr val="C0C0C0"/>
                </a:highlight>
              </a:rPr>
              <a:t> +=1</a:t>
            </a:r>
          </a:p>
          <a:p>
            <a:endParaRPr lang="en-US" sz="900" dirty="0">
              <a:highlight>
                <a:srgbClr val="C0C0C0"/>
              </a:highlight>
            </a:endParaRPr>
          </a:p>
          <a:p>
            <a:r>
              <a:rPr lang="en-US" sz="900" dirty="0">
                <a:highlight>
                  <a:srgbClr val="C0C0C0"/>
                </a:highlight>
              </a:rPr>
              <a:t>average = </a:t>
            </a:r>
            <a:r>
              <a:rPr lang="en-US" sz="900" dirty="0" err="1">
                <a:highlight>
                  <a:srgbClr val="C0C0C0"/>
                </a:highlight>
              </a:rPr>
              <a:t>sum_numbers</a:t>
            </a:r>
            <a:r>
              <a:rPr lang="en-US" sz="900" dirty="0">
                <a:highlight>
                  <a:srgbClr val="C0C0C0"/>
                </a:highlight>
              </a:rPr>
              <a:t> / </a:t>
            </a:r>
            <a:r>
              <a:rPr lang="en-US" sz="900" dirty="0" err="1">
                <a:highlight>
                  <a:srgbClr val="C0C0C0"/>
                </a:highlight>
              </a:rPr>
              <a:t>len</a:t>
            </a:r>
            <a:r>
              <a:rPr lang="en-US" sz="900" dirty="0">
                <a:highlight>
                  <a:srgbClr val="C0C0C0"/>
                </a:highlight>
              </a:rPr>
              <a:t>(</a:t>
            </a:r>
            <a:r>
              <a:rPr lang="en-US" sz="900" dirty="0" err="1">
                <a:highlight>
                  <a:srgbClr val="C0C0C0"/>
                </a:highlight>
              </a:rPr>
              <a:t>my_numbers</a:t>
            </a:r>
            <a:r>
              <a:rPr lang="en-US" sz="900" dirty="0">
                <a:highlight>
                  <a:srgbClr val="C0C0C0"/>
                </a:highlight>
              </a:rPr>
              <a:t>)</a:t>
            </a:r>
          </a:p>
          <a:p>
            <a:r>
              <a:rPr lang="en-US" sz="900" dirty="0">
                <a:highlight>
                  <a:srgbClr val="C0C0C0"/>
                </a:highlight>
              </a:rPr>
              <a:t>print(average)</a:t>
            </a:r>
          </a:p>
          <a:p>
            <a:endParaRPr lang="en-US" sz="900" dirty="0"/>
          </a:p>
          <a:p>
            <a:r>
              <a:rPr lang="en-US" sz="900" dirty="0">
                <a:highlight>
                  <a:srgbClr val="FFFF00"/>
                </a:highlight>
              </a:rPr>
              <a:t>my_numbers_2 = [1, 2, 3, 4, 5]</a:t>
            </a:r>
          </a:p>
          <a:p>
            <a:r>
              <a:rPr lang="en-US" sz="900" dirty="0" err="1">
                <a:highlight>
                  <a:srgbClr val="FFFF00"/>
                </a:highlight>
              </a:rPr>
              <a:t>sum_numbers</a:t>
            </a:r>
            <a:r>
              <a:rPr lang="en-US" sz="900" dirty="0">
                <a:highlight>
                  <a:srgbClr val="FFFF00"/>
                </a:highlight>
              </a:rPr>
              <a:t> = 0</a:t>
            </a:r>
          </a:p>
          <a:p>
            <a:r>
              <a:rPr lang="en-US" sz="900" dirty="0" err="1">
                <a:highlight>
                  <a:srgbClr val="FFFF00"/>
                </a:highlight>
              </a:rPr>
              <a:t>length_numbers</a:t>
            </a:r>
            <a:r>
              <a:rPr lang="en-US" sz="900" dirty="0">
                <a:highlight>
                  <a:srgbClr val="FFFF00"/>
                </a:highlight>
              </a:rPr>
              <a:t> = 0</a:t>
            </a:r>
          </a:p>
          <a:p>
            <a:endParaRPr lang="en-US" sz="900" dirty="0">
              <a:highlight>
                <a:srgbClr val="FFFF00"/>
              </a:highlight>
            </a:endParaRPr>
          </a:p>
          <a:p>
            <a:r>
              <a:rPr lang="en-US" sz="900" dirty="0">
                <a:highlight>
                  <a:srgbClr val="FFFF00"/>
                </a:highlight>
              </a:rPr>
              <a:t>for </a:t>
            </a:r>
            <a:r>
              <a:rPr lang="en-US" sz="900" dirty="0" err="1">
                <a:highlight>
                  <a:srgbClr val="FFFF00"/>
                </a:highlight>
              </a:rPr>
              <a:t>i</a:t>
            </a:r>
            <a:r>
              <a:rPr lang="en-US" sz="900" dirty="0">
                <a:highlight>
                  <a:srgbClr val="FFFF00"/>
                </a:highlight>
              </a:rPr>
              <a:t> in </a:t>
            </a:r>
            <a:r>
              <a:rPr lang="en-US" sz="900" dirty="0" err="1">
                <a:highlight>
                  <a:srgbClr val="FFFF00"/>
                </a:highlight>
              </a:rPr>
              <a:t>my_numbers</a:t>
            </a:r>
            <a:r>
              <a:rPr lang="en-US" sz="900" dirty="0">
                <a:highlight>
                  <a:srgbClr val="FFFF00"/>
                </a:highlight>
              </a:rPr>
              <a:t>:</a:t>
            </a:r>
          </a:p>
          <a:p>
            <a:r>
              <a:rPr lang="en-US" sz="900" dirty="0">
                <a:highlight>
                  <a:srgbClr val="FFFF00"/>
                </a:highlight>
              </a:rPr>
              <a:t>	</a:t>
            </a:r>
            <a:r>
              <a:rPr lang="en-US" sz="900" dirty="0" err="1">
                <a:highlight>
                  <a:srgbClr val="FFFF00"/>
                </a:highlight>
              </a:rPr>
              <a:t>sum_numbers</a:t>
            </a:r>
            <a:r>
              <a:rPr lang="en-US" sz="900" dirty="0">
                <a:highlight>
                  <a:srgbClr val="FFFF00"/>
                </a:highlight>
              </a:rPr>
              <a:t> += I</a:t>
            </a:r>
          </a:p>
          <a:p>
            <a:r>
              <a:rPr lang="en-US" sz="900" dirty="0" err="1">
                <a:highlight>
                  <a:srgbClr val="FFFF00"/>
                </a:highlight>
              </a:rPr>
              <a:t>length_numbers</a:t>
            </a:r>
            <a:r>
              <a:rPr lang="en-US" sz="900" dirty="0">
                <a:highlight>
                  <a:srgbClr val="FFFF00"/>
                </a:highlight>
              </a:rPr>
              <a:t> +=1</a:t>
            </a:r>
          </a:p>
          <a:p>
            <a:r>
              <a:rPr lang="en-US" sz="900" dirty="0">
                <a:highlight>
                  <a:srgbClr val="FFFF00"/>
                </a:highlight>
              </a:rPr>
              <a:t>average = </a:t>
            </a:r>
            <a:r>
              <a:rPr lang="en-US" sz="900" dirty="0" err="1">
                <a:highlight>
                  <a:srgbClr val="FFFF00"/>
                </a:highlight>
              </a:rPr>
              <a:t>sum_numbers</a:t>
            </a:r>
            <a:r>
              <a:rPr lang="en-US" sz="900" dirty="0">
                <a:highlight>
                  <a:srgbClr val="FFFF00"/>
                </a:highlight>
              </a:rPr>
              <a:t> / </a:t>
            </a:r>
            <a:r>
              <a:rPr lang="en-US" sz="900" dirty="0" err="1">
                <a:highlight>
                  <a:srgbClr val="FFFF00"/>
                </a:highlight>
              </a:rPr>
              <a:t>len</a:t>
            </a:r>
            <a:r>
              <a:rPr lang="en-US" sz="900" dirty="0">
                <a:highlight>
                  <a:srgbClr val="FFFF00"/>
                </a:highlight>
              </a:rPr>
              <a:t>(</a:t>
            </a:r>
            <a:r>
              <a:rPr lang="en-US" sz="900" dirty="0" err="1">
                <a:highlight>
                  <a:srgbClr val="FFFF00"/>
                </a:highlight>
              </a:rPr>
              <a:t>my_numbers</a:t>
            </a:r>
            <a:r>
              <a:rPr lang="en-US" sz="900" dirty="0">
                <a:highlight>
                  <a:srgbClr val="FFFF00"/>
                </a:highlight>
              </a:rPr>
              <a:t>)</a:t>
            </a:r>
          </a:p>
          <a:p>
            <a:r>
              <a:rPr lang="en-US" sz="900" dirty="0">
                <a:highlight>
                  <a:srgbClr val="FFFF00"/>
                </a:highlight>
              </a:rPr>
              <a:t>print(average)</a:t>
            </a:r>
          </a:p>
          <a:p>
            <a:endParaRPr lang="en-US" sz="900" dirty="0">
              <a:highlight>
                <a:srgbClr val="FFFF00"/>
              </a:highlight>
            </a:endParaRPr>
          </a:p>
          <a:p>
            <a:r>
              <a:rPr lang="en-US" sz="900" dirty="0">
                <a:highlight>
                  <a:srgbClr val="00FF00"/>
                </a:highlight>
              </a:rPr>
              <a:t>my_numbers_3 = [6, 7, 8, 9, 10]</a:t>
            </a:r>
          </a:p>
          <a:p>
            <a:r>
              <a:rPr lang="en-US" sz="900" dirty="0" err="1">
                <a:highlight>
                  <a:srgbClr val="00FF00"/>
                </a:highlight>
              </a:rPr>
              <a:t>sum_numbers</a:t>
            </a:r>
            <a:r>
              <a:rPr lang="en-US" sz="900" dirty="0">
                <a:highlight>
                  <a:srgbClr val="00FF00"/>
                </a:highlight>
              </a:rPr>
              <a:t> = 0</a:t>
            </a:r>
          </a:p>
          <a:p>
            <a:r>
              <a:rPr lang="en-US" sz="900" dirty="0" err="1">
                <a:highlight>
                  <a:srgbClr val="00FF00"/>
                </a:highlight>
              </a:rPr>
              <a:t>length_numbers</a:t>
            </a:r>
            <a:r>
              <a:rPr lang="en-US" sz="900" dirty="0">
                <a:highlight>
                  <a:srgbClr val="00FF00"/>
                </a:highlight>
              </a:rPr>
              <a:t> = 0</a:t>
            </a:r>
          </a:p>
          <a:p>
            <a:endParaRPr lang="en-US" sz="900" dirty="0">
              <a:highlight>
                <a:srgbClr val="00FF00"/>
              </a:highlight>
            </a:endParaRPr>
          </a:p>
          <a:p>
            <a:r>
              <a:rPr lang="en-US" sz="900" dirty="0">
                <a:highlight>
                  <a:srgbClr val="00FF00"/>
                </a:highlight>
              </a:rPr>
              <a:t>for </a:t>
            </a:r>
            <a:r>
              <a:rPr lang="en-US" sz="900" dirty="0" err="1">
                <a:highlight>
                  <a:srgbClr val="00FF00"/>
                </a:highlight>
              </a:rPr>
              <a:t>i</a:t>
            </a:r>
            <a:r>
              <a:rPr lang="en-US" sz="900" dirty="0">
                <a:highlight>
                  <a:srgbClr val="00FF00"/>
                </a:highlight>
              </a:rPr>
              <a:t> in </a:t>
            </a:r>
            <a:r>
              <a:rPr lang="en-US" sz="900" dirty="0" err="1">
                <a:highlight>
                  <a:srgbClr val="00FF00"/>
                </a:highlight>
              </a:rPr>
              <a:t>my_numbers</a:t>
            </a:r>
            <a:r>
              <a:rPr lang="en-US" sz="900" dirty="0">
                <a:highlight>
                  <a:srgbClr val="00FF00"/>
                </a:highlight>
              </a:rPr>
              <a:t>:</a:t>
            </a:r>
          </a:p>
          <a:p>
            <a:r>
              <a:rPr lang="en-US" sz="900" dirty="0">
                <a:highlight>
                  <a:srgbClr val="00FF00"/>
                </a:highlight>
              </a:rPr>
              <a:t>	</a:t>
            </a:r>
            <a:r>
              <a:rPr lang="en-US" sz="900" dirty="0" err="1">
                <a:highlight>
                  <a:srgbClr val="00FF00"/>
                </a:highlight>
              </a:rPr>
              <a:t>sum_numbers</a:t>
            </a:r>
            <a:r>
              <a:rPr lang="en-US" sz="900" dirty="0">
                <a:highlight>
                  <a:srgbClr val="00FF00"/>
                </a:highlight>
              </a:rPr>
              <a:t> += I</a:t>
            </a:r>
          </a:p>
          <a:p>
            <a:r>
              <a:rPr lang="en-US" sz="900" dirty="0" err="1">
                <a:highlight>
                  <a:srgbClr val="00FF00"/>
                </a:highlight>
              </a:rPr>
              <a:t>length_numbers</a:t>
            </a:r>
            <a:r>
              <a:rPr lang="en-US" sz="900" dirty="0">
                <a:highlight>
                  <a:srgbClr val="00FF00"/>
                </a:highlight>
              </a:rPr>
              <a:t> +=1</a:t>
            </a:r>
          </a:p>
          <a:p>
            <a:r>
              <a:rPr lang="en-US" sz="900" dirty="0">
                <a:highlight>
                  <a:srgbClr val="00FF00"/>
                </a:highlight>
              </a:rPr>
              <a:t>average = </a:t>
            </a:r>
            <a:r>
              <a:rPr lang="en-US" sz="900" dirty="0" err="1">
                <a:highlight>
                  <a:srgbClr val="00FF00"/>
                </a:highlight>
              </a:rPr>
              <a:t>sum_numbers</a:t>
            </a:r>
            <a:r>
              <a:rPr lang="en-US" sz="900" dirty="0">
                <a:highlight>
                  <a:srgbClr val="00FF00"/>
                </a:highlight>
              </a:rPr>
              <a:t> / </a:t>
            </a:r>
            <a:r>
              <a:rPr lang="en-US" sz="900" dirty="0" err="1">
                <a:highlight>
                  <a:srgbClr val="00FF00"/>
                </a:highlight>
              </a:rPr>
              <a:t>len</a:t>
            </a:r>
            <a:r>
              <a:rPr lang="en-US" sz="900" dirty="0">
                <a:highlight>
                  <a:srgbClr val="00FF00"/>
                </a:highlight>
              </a:rPr>
              <a:t>(</a:t>
            </a:r>
            <a:r>
              <a:rPr lang="en-US" sz="900" dirty="0" err="1">
                <a:highlight>
                  <a:srgbClr val="00FF00"/>
                </a:highlight>
              </a:rPr>
              <a:t>my_numbers</a:t>
            </a:r>
            <a:r>
              <a:rPr lang="en-US" sz="900" dirty="0">
                <a:highlight>
                  <a:srgbClr val="00FF00"/>
                </a:highlight>
              </a:rPr>
              <a:t>)</a:t>
            </a:r>
          </a:p>
          <a:p>
            <a:r>
              <a:rPr lang="en-US" sz="900" dirty="0">
                <a:highlight>
                  <a:srgbClr val="00FF00"/>
                </a:highlight>
              </a:rPr>
              <a:t>print(average)</a:t>
            </a:r>
          </a:p>
          <a:p>
            <a:endParaRPr lang="en-US" sz="900" dirty="0"/>
          </a:p>
          <a:p>
            <a:r>
              <a:rPr lang="en-US" sz="900" dirty="0">
                <a:highlight>
                  <a:srgbClr val="00FFFF"/>
                </a:highlight>
              </a:rPr>
              <a:t>my_numbers_3 = [6, 7, 8, 9, 10]</a:t>
            </a:r>
          </a:p>
          <a:p>
            <a:r>
              <a:rPr lang="en-US" sz="900" dirty="0" err="1">
                <a:highlight>
                  <a:srgbClr val="00FFFF"/>
                </a:highlight>
              </a:rPr>
              <a:t>sum_numbers</a:t>
            </a:r>
            <a:r>
              <a:rPr lang="en-US" sz="900" dirty="0">
                <a:highlight>
                  <a:srgbClr val="00FFFF"/>
                </a:highlight>
              </a:rPr>
              <a:t> = 0</a:t>
            </a:r>
          </a:p>
          <a:p>
            <a:r>
              <a:rPr lang="en-US" sz="900" dirty="0" err="1">
                <a:highlight>
                  <a:srgbClr val="00FFFF"/>
                </a:highlight>
              </a:rPr>
              <a:t>length_numbers</a:t>
            </a:r>
            <a:r>
              <a:rPr lang="en-US" sz="900" dirty="0">
                <a:highlight>
                  <a:srgbClr val="00FFFF"/>
                </a:highlight>
              </a:rPr>
              <a:t> = 0</a:t>
            </a:r>
          </a:p>
          <a:p>
            <a:endParaRPr lang="en-US" sz="900" dirty="0">
              <a:highlight>
                <a:srgbClr val="00FFFF"/>
              </a:highlight>
            </a:endParaRPr>
          </a:p>
          <a:p>
            <a:r>
              <a:rPr lang="en-US" sz="900" dirty="0">
                <a:highlight>
                  <a:srgbClr val="00FFFF"/>
                </a:highlight>
              </a:rPr>
              <a:t>for </a:t>
            </a:r>
            <a:r>
              <a:rPr lang="en-US" sz="900" dirty="0" err="1">
                <a:highlight>
                  <a:srgbClr val="00FFFF"/>
                </a:highlight>
              </a:rPr>
              <a:t>i</a:t>
            </a:r>
            <a:r>
              <a:rPr lang="en-US" sz="900" dirty="0">
                <a:highlight>
                  <a:srgbClr val="00FFFF"/>
                </a:highlight>
              </a:rPr>
              <a:t> in </a:t>
            </a:r>
            <a:r>
              <a:rPr lang="en-US" sz="900" dirty="0" err="1">
                <a:highlight>
                  <a:srgbClr val="00FFFF"/>
                </a:highlight>
              </a:rPr>
              <a:t>my_numbers</a:t>
            </a:r>
            <a:r>
              <a:rPr lang="en-US" sz="900" dirty="0">
                <a:highlight>
                  <a:srgbClr val="00FFFF"/>
                </a:highlight>
              </a:rPr>
              <a:t>:</a:t>
            </a:r>
          </a:p>
          <a:p>
            <a:r>
              <a:rPr lang="en-US" sz="900" dirty="0">
                <a:highlight>
                  <a:srgbClr val="00FFFF"/>
                </a:highlight>
              </a:rPr>
              <a:t>	</a:t>
            </a:r>
            <a:r>
              <a:rPr lang="en-US" sz="900" dirty="0" err="1">
                <a:highlight>
                  <a:srgbClr val="00FFFF"/>
                </a:highlight>
              </a:rPr>
              <a:t>sum_numbers</a:t>
            </a:r>
            <a:r>
              <a:rPr lang="en-US" sz="900" dirty="0">
                <a:highlight>
                  <a:srgbClr val="00FFFF"/>
                </a:highlight>
              </a:rPr>
              <a:t> += I</a:t>
            </a:r>
          </a:p>
          <a:p>
            <a:r>
              <a:rPr lang="en-US" sz="900" dirty="0" err="1">
                <a:highlight>
                  <a:srgbClr val="00FFFF"/>
                </a:highlight>
              </a:rPr>
              <a:t>length_numbers</a:t>
            </a:r>
            <a:r>
              <a:rPr lang="en-US" sz="900" dirty="0">
                <a:highlight>
                  <a:srgbClr val="00FFFF"/>
                </a:highlight>
              </a:rPr>
              <a:t> +=1</a:t>
            </a:r>
          </a:p>
          <a:p>
            <a:r>
              <a:rPr lang="en-US" sz="900" dirty="0">
                <a:highlight>
                  <a:srgbClr val="00FFFF"/>
                </a:highlight>
              </a:rPr>
              <a:t>average = </a:t>
            </a:r>
            <a:r>
              <a:rPr lang="en-US" sz="900" dirty="0" err="1">
                <a:highlight>
                  <a:srgbClr val="00FFFF"/>
                </a:highlight>
              </a:rPr>
              <a:t>sum_numbers</a:t>
            </a:r>
            <a:r>
              <a:rPr lang="en-US" sz="900" dirty="0">
                <a:highlight>
                  <a:srgbClr val="00FFFF"/>
                </a:highlight>
              </a:rPr>
              <a:t> / </a:t>
            </a:r>
            <a:r>
              <a:rPr lang="en-US" sz="900" dirty="0" err="1">
                <a:highlight>
                  <a:srgbClr val="00FFFF"/>
                </a:highlight>
              </a:rPr>
              <a:t>len</a:t>
            </a:r>
            <a:r>
              <a:rPr lang="en-US" sz="900" dirty="0">
                <a:highlight>
                  <a:srgbClr val="00FFFF"/>
                </a:highlight>
              </a:rPr>
              <a:t>(</a:t>
            </a:r>
            <a:r>
              <a:rPr lang="en-US" sz="900" dirty="0" err="1">
                <a:highlight>
                  <a:srgbClr val="00FFFF"/>
                </a:highlight>
              </a:rPr>
              <a:t>my_numbers</a:t>
            </a:r>
            <a:r>
              <a:rPr lang="en-US" sz="900" dirty="0">
                <a:highlight>
                  <a:srgbClr val="00FFFF"/>
                </a:highlight>
              </a:rPr>
              <a:t>)</a:t>
            </a:r>
          </a:p>
          <a:p>
            <a:r>
              <a:rPr lang="en-US" sz="900" dirty="0">
                <a:highlight>
                  <a:srgbClr val="00FFFF"/>
                </a:highlight>
              </a:rPr>
              <a:t>print(average)</a:t>
            </a:r>
          </a:p>
          <a:p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59066-AE59-F5F0-BF49-DABE1C425EBE}"/>
              </a:ext>
            </a:extLst>
          </p:cNvPr>
          <p:cNvSpPr txBox="1"/>
          <p:nvPr/>
        </p:nvSpPr>
        <p:spPr>
          <a:xfrm>
            <a:off x="4013541" y="1490546"/>
            <a:ext cx="80148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Getting the average of a list of numbers WITH functions:</a:t>
            </a:r>
          </a:p>
          <a:p>
            <a:pPr algn="ctr"/>
            <a:endParaRPr lang="en-US" sz="3600" b="1" dirty="0"/>
          </a:p>
          <a:p>
            <a:r>
              <a:rPr lang="en-US" sz="3600" dirty="0"/>
              <a:t>average(numbers)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8846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ython Functions - GeeksforGeeks">
            <a:extLst>
              <a:ext uri="{FF2B5EF4-FFF2-40B4-BE49-F238E27FC236}">
                <a16:creationId xmlns:a16="http://schemas.microsoft.com/office/drawing/2014/main" id="{279D29CF-AAE2-B039-5B90-5CFFF30E3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902663"/>
            <a:ext cx="10938933" cy="495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950FCCE-CF8E-3D01-7054-072504A3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0922"/>
            <a:ext cx="12192000" cy="289908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Anatomy of a Function</a:t>
            </a:r>
          </a:p>
        </p:txBody>
      </p:sp>
    </p:spTree>
    <p:extLst>
      <p:ext uri="{BB962C8B-B14F-4D97-AF65-F5344CB8AC3E}">
        <p14:creationId xmlns:p14="http://schemas.microsoft.com/office/powerpoint/2010/main" val="345465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C645F-3B7A-5756-5425-8BB101B5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ython Functions - GeeksforGeeks">
            <a:extLst>
              <a:ext uri="{FF2B5EF4-FFF2-40B4-BE49-F238E27FC236}">
                <a16:creationId xmlns:a16="http://schemas.microsoft.com/office/drawing/2014/main" id="{DC278FE6-C6D8-599B-B828-15E03C6C9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599" y="1303793"/>
            <a:ext cx="6908801" cy="312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14CF50A-F0D7-DD2D-104C-9B26AA53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0922"/>
            <a:ext cx="12192000" cy="289908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Anatomy of a Function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575A40-DADB-EC68-1A57-47D491E1C169}"/>
              </a:ext>
            </a:extLst>
          </p:cNvPr>
          <p:cNvSpPr txBox="1"/>
          <p:nvPr/>
        </p:nvSpPr>
        <p:spPr>
          <a:xfrm>
            <a:off x="1777736" y="4433480"/>
            <a:ext cx="79779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def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average</a:t>
            </a:r>
            <a:r>
              <a:rPr lang="en-US" sz="2400" dirty="0">
                <a:solidFill>
                  <a:schemeClr val="tx1"/>
                </a:solidFill>
              </a:rPr>
              <a:t>(parameters):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i="1" dirty="0">
                <a:solidFill>
                  <a:schemeClr val="tx1"/>
                </a:solidFill>
                <a:highlight>
                  <a:srgbClr val="FFFF00"/>
                </a:highlight>
              </a:rPr>
              <a:t>#using the parameters, take the average of the numbers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return</a:t>
            </a:r>
            <a:r>
              <a:rPr lang="en-US" sz="2400" dirty="0"/>
              <a:t> the average of the numbers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5430-4C2E-DF55-4B78-322CC4F931EC}"/>
              </a:ext>
            </a:extLst>
          </p:cNvPr>
          <p:cNvSpPr txBox="1"/>
          <p:nvPr/>
        </p:nvSpPr>
        <p:spPr>
          <a:xfrm>
            <a:off x="9440333" y="1714475"/>
            <a:ext cx="27516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/>
              <a:t>The trickiest part!</a:t>
            </a:r>
          </a:p>
        </p:txBody>
      </p:sp>
    </p:spTree>
    <p:extLst>
      <p:ext uri="{BB962C8B-B14F-4D97-AF65-F5344CB8AC3E}">
        <p14:creationId xmlns:p14="http://schemas.microsoft.com/office/powerpoint/2010/main" val="4080832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7111</TotalTime>
  <Words>504</Words>
  <Application>Microsoft Office PowerPoint</Application>
  <PresentationFormat>Widescreen</PresentationFormat>
  <Paragraphs>85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Play</vt:lpstr>
      <vt:lpstr>Office Theme</vt:lpstr>
      <vt:lpstr>Introduction to Python and AI Assisted Coding Anatomy of a Function</vt:lpstr>
      <vt:lpstr>Functions we have used so far</vt:lpstr>
      <vt:lpstr>How would we function without functions?</vt:lpstr>
      <vt:lpstr>How would we function without functions?</vt:lpstr>
      <vt:lpstr>How would we function without functions?</vt:lpstr>
      <vt:lpstr>Anatomy of a Function</vt:lpstr>
      <vt:lpstr>Anatomy of a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Alon,Alex</dc:creator>
  <cp:lastModifiedBy>Alon,Alex</cp:lastModifiedBy>
  <cp:revision>9</cp:revision>
  <dcterms:created xsi:type="dcterms:W3CDTF">2026-01-16T17:34:58Z</dcterms:created>
  <dcterms:modified xsi:type="dcterms:W3CDTF">2026-02-16T16:25:37Z</dcterms:modified>
</cp:coreProperties>
</file>