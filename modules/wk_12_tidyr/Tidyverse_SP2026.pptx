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58D065-6D8D-4663-B783-893015D2C9B9}">
  <a:tblStyle styleId="{0958D065-6D8D-4663-B783-893015D2C9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onlinelibrary.wiley.com/doi/10.1111/ele.70296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omeandroost.co.uk/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onlinelibrary.wiley.com/doi/10.1111/ele.70296" TargetMode="Externa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cd3d14f41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cd3d14f41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cd3d14f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cd3d14f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Narratively cover the word picture thing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ce79b87e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ce79b87e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untidy data is not useless! → move that sentence to after example!!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cd3d14f4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cd3d14f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cd3d14f4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cd3d14f4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ce79b87e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ce79b87e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cd3d14f4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cd3d14f4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students look up what these are with people nearby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ce79b87e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ce79b87e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ce79b87e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ce79b87e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cd3d14f41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cd3d14f41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ce79b87e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ce79b87e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cd3d14f41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cd3d14f41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specify here that some </a:t>
            </a:r>
            <a:r>
              <a:rPr lang="en"/>
              <a:t>packages</a:t>
            </a:r>
            <a:r>
              <a:rPr lang="en"/>
              <a:t> share the same function name as dplyr::select so you have to use the :: operator to pull the dplyr version of select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cd3d14f41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cd3d14f41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cd3d14f4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cd3d14f4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cd3d14f4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cd3d14f4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cd3d14f41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cd3d14f41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4d56c32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4d56c32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ce79b87e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ce79b87e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ce79b87e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ce79b87e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cd3d14f41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cd3d14f41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 images from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https://onlinelibrary.wiley.com/doi/10.1111/ele.70296</a:t>
            </a:r>
            <a:r>
              <a:rPr lang="en"/>
              <a:t> manuscript “Sex Ratio Bias Triggers Demographic Suicide in a Dense Tortoise Population”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ce79b87e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ce79b87e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sourced from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https://homeandroost.co.uk/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cd3d14f41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cd3d14f41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cd3d14f4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cd3d14f4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d391a944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d391a944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cd3d14f4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cd3d14f4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d391a944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d391a944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d391a944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dd391a944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d391a944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d391a944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d391a944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d391a944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d391a944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d391a944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d391a944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d391a944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cd3d14f4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cd3d14f4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d391a944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d391a944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4a4f3412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d4a4f3412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4a4f3412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d4a4f3412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cd3d14f4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dcd3d14f4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cd3d14f4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dcd3d14f4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d391a944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d391a944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d391a944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dd391a944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cd3d14f4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dcd3d14f4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d391a944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dd391a944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 images from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https://onlinelibrary.wiley.com/doi/10.1111/ele.70296</a:t>
            </a:r>
            <a:r>
              <a:rPr lang="en"/>
              <a:t> manuscript “Sex Ratio Bias Triggers Demographic Suicide in a Dense Tortoise Population”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d391a94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d391a94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4a4f3412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d4a4f3412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ce79b87ee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dce79b87ee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figshare.com/articles/journal_contribution/Sex_ratio_bias_triggers_demographic_suicide_in_a_dense_tortoise_population/30752687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datacamp.com/cheat-sheet/tidyverse-cheat-sheet-for-beginners" TargetMode="External"/><Relationship Id="rId4" Type="http://schemas.openxmlformats.org/officeDocument/2006/relationships/hyperlink" Target="https://cran.r-project.org/web/packages/tidyr/vignettes/tidy-data.html" TargetMode="External"/><Relationship Id="rId5" Type="http://schemas.openxmlformats.org/officeDocument/2006/relationships/hyperlink" Target="https://github.com/rfordatascience/tidytuesday/tree/main" TargetMode="External"/><Relationship Id="rId6" Type="http://schemas.openxmlformats.org/officeDocument/2006/relationships/hyperlink" Target="https://sesync-ci.github.io/advanced-tidyverse-lesson/index.html" TargetMode="External"/><Relationship Id="rId7" Type="http://schemas.openxmlformats.org/officeDocument/2006/relationships/hyperlink" Target="https://cran.r-project.org/web/packages/tidyr/vignettes/tidy-dat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63" y="391663"/>
            <a:ext cx="3190875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2706500" y="1541275"/>
            <a:ext cx="5926800" cy="108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Tidyverse Day 1!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884150" y="2624575"/>
            <a:ext cx="3571500" cy="11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Shady and Meg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39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Monday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394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tidy data?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types + structures review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5-10min break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Cleaning up a real dataset</a:t>
            </a:r>
            <a:endParaRPr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45720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4572000" y="1152475"/>
            <a:ext cx="394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Day 1 brief review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Data formatting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Applications of tidy data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Real dataset analysis</a:t>
            </a:r>
            <a:endParaRPr>
              <a:highlight>
                <a:schemeClr val="accent6"/>
              </a:highlight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100" y="0"/>
            <a:ext cx="1458600" cy="145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Screenshot 2026-03-31 at 11.27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7550" y="115525"/>
            <a:ext cx="1641224" cy="122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tidy data?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a </a:t>
            </a:r>
            <a:r>
              <a:rPr b="1" lang="en"/>
              <a:t>standardized</a:t>
            </a:r>
            <a:r>
              <a:rPr lang="en"/>
              <a:t>, structured format for </a:t>
            </a:r>
            <a:r>
              <a:rPr b="1" lang="en"/>
              <a:t>organizing datasets</a:t>
            </a:r>
            <a:r>
              <a:rPr lang="en"/>
              <a:t> to make analysis, visualization, and manipulation </a:t>
            </a:r>
            <a:r>
              <a:rPr b="1" lang="en"/>
              <a:t>easier</a:t>
            </a:r>
            <a:r>
              <a:rPr lang="en"/>
              <a:t>”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Three main rules: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Each variable is a column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Each observation is a row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Each cell represents a single value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0" l="0" r="66185" t="0"/>
          <a:stretch/>
        </p:blipFill>
        <p:spPr>
          <a:xfrm>
            <a:off x="4988600" y="1677200"/>
            <a:ext cx="1935950" cy="17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33136" r="33048" t="0"/>
          <a:stretch/>
        </p:blipFill>
        <p:spPr>
          <a:xfrm>
            <a:off x="6979738" y="1677200"/>
            <a:ext cx="1935950" cy="17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66185" r="0" t="0"/>
          <a:stretch/>
        </p:blipFill>
        <p:spPr>
          <a:xfrm>
            <a:off x="6014674" y="3273550"/>
            <a:ext cx="1935950" cy="17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‘untidy’ data characteristics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5380200" cy="30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Column headers are </a:t>
            </a:r>
            <a:r>
              <a:rPr b="1" lang="en"/>
              <a:t>values</a:t>
            </a:r>
            <a:r>
              <a:rPr lang="en"/>
              <a:t>, not variable names.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Multiple variables</a:t>
            </a:r>
            <a:r>
              <a:rPr lang="en"/>
              <a:t> are stored in one column.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Variables are stored in </a:t>
            </a:r>
            <a:r>
              <a:rPr b="1" lang="en"/>
              <a:t>both</a:t>
            </a:r>
            <a:r>
              <a:rPr lang="en"/>
              <a:t> rows and columns.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Multiple</a:t>
            </a:r>
            <a:r>
              <a:rPr lang="en"/>
              <a:t> types of observational units are stored in the same table.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single observational unit is stored in </a:t>
            </a:r>
            <a:r>
              <a:rPr b="1" lang="en"/>
              <a:t>multiple</a:t>
            </a:r>
            <a:r>
              <a:rPr lang="en"/>
              <a:t> tables.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4000" y="1162600"/>
            <a:ext cx="2818300" cy="281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580050" y="4342925"/>
            <a:ext cx="79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Tidy datasets are all useable; untidy datasets are unusable in their own ways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want a tidy dataset?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Easier to </a:t>
            </a:r>
            <a:r>
              <a:rPr b="1" lang="en"/>
              <a:t>analyze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 R commands expect data to be formatted tidily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 statistics require data to be formatted a certain way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Easier to </a:t>
            </a:r>
            <a:r>
              <a:rPr b="1" lang="en"/>
              <a:t>plot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produce a desired plot, you must know how to format your data for that plot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1325" y="950188"/>
            <a:ext cx="38209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Having tidy data from the get-go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Sometimes, data must be collected in non-tidy ways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Think about what you want to analyze and how to format your data to answer it – </a:t>
            </a:r>
            <a:r>
              <a:rPr b="1" i="1" lang="en"/>
              <a:t>before data collection begins!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Reformat data to tidy guidelines</a:t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48388"/>
            <a:ext cx="4267200" cy="20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Sooo…. Tidy data is…normal data?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concepts might seem obvious, but there are differences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 tidy data is normal data but not all normal data is tidy data!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data you encounter will be untidy because: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Most people haven’t heard of it, and you can’t easily deduce the rules yourself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is often organized to help with other items (data entry, quick look, etc.) rather than analysis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157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Numeric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Double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Character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Factor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3178925" y="2202300"/>
            <a:ext cx="5380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Divide into groups to define each of these. What are examples of each type?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(3min)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Logical</a:t>
            </a:r>
            <a:r>
              <a:rPr lang="en"/>
              <a:t>: boolean indicator data type; 0,1 or FALSE, TRUE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Numeric</a:t>
            </a:r>
            <a:r>
              <a:rPr lang="en"/>
              <a:t>: general number; 0.111, 3, 400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Double:</a:t>
            </a:r>
            <a:r>
              <a:rPr lang="en"/>
              <a:t> default type of numeric; 0.002, 1.20 (1 is also stored as double)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Integer:</a:t>
            </a:r>
            <a:r>
              <a:rPr lang="en"/>
              <a:t> specific type of numeric; 1L, 4L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Character:</a:t>
            </a:r>
            <a:r>
              <a:rPr lang="en"/>
              <a:t> string of letters, characters, words; “hello”, “Y”, “,”, “3”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Factor:</a:t>
            </a:r>
            <a:r>
              <a:rPr lang="en"/>
              <a:t> </a:t>
            </a:r>
            <a:r>
              <a:rPr lang="en"/>
              <a:t>meaningful</a:t>
            </a:r>
            <a:r>
              <a:rPr lang="en"/>
              <a:t> categories with levels; “Strain A”, “Strain B”, “Strain C”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b="0" l="16472" r="0" t="0"/>
          <a:stretch/>
        </p:blipFill>
        <p:spPr>
          <a:xfrm>
            <a:off x="5308001" y="0"/>
            <a:ext cx="373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/>
        </p:nvSpPr>
        <p:spPr>
          <a:xfrm>
            <a:off x="1699875" y="109675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One value, one data type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1699875" y="556075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One dimension, one data type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1699875" y="1024433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Two</a:t>
            </a:r>
            <a:r>
              <a:rPr lang="en" sz="1700">
                <a:solidFill>
                  <a:schemeClr val="dk2"/>
                </a:solidFill>
              </a:rPr>
              <a:t> dimensions, one data type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1699875" y="1939183"/>
            <a:ext cx="355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Two dimensions, multiple data types (by columns)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1699875" y="3583883"/>
            <a:ext cx="355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Multiple</a:t>
            </a:r>
            <a:r>
              <a:rPr lang="en" sz="1700">
                <a:solidFill>
                  <a:schemeClr val="dk2"/>
                </a:solidFill>
              </a:rPr>
              <a:t> dimensions, multiple data types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305925" y="109675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Scalar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305925" y="556075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Vector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305925" y="1024433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Matrix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305925" y="1939183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Dataframe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305925" y="3583883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List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445025"/>
            <a:ext cx="196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frames</a:t>
            </a:r>
            <a:endParaRPr/>
          </a:p>
        </p:txBody>
      </p:sp>
      <p:sp>
        <p:nvSpPr>
          <p:cNvPr id="137" name="Google Shape;137;p23"/>
          <p:cNvSpPr txBox="1"/>
          <p:nvPr/>
        </p:nvSpPr>
        <p:spPr>
          <a:xfrm>
            <a:off x="6779700" y="345525"/>
            <a:ext cx="14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header row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8263175" y="552850"/>
            <a:ext cx="468625" cy="789800"/>
          </a:xfrm>
          <a:custGeom>
            <a:rect b="b" l="l" r="r" t="t"/>
            <a:pathLst>
              <a:path extrusionOk="0" h="31592" w="18745">
                <a:moveTo>
                  <a:pt x="0" y="0"/>
                </a:moveTo>
                <a:cubicBezTo>
                  <a:pt x="5532" y="1384"/>
                  <a:pt x="12158" y="1497"/>
                  <a:pt x="16190" y="5529"/>
                </a:cubicBezTo>
                <a:cubicBezTo>
                  <a:pt x="19021" y="8360"/>
                  <a:pt x="19136" y="13491"/>
                  <a:pt x="18165" y="17375"/>
                </a:cubicBezTo>
                <a:cubicBezTo>
                  <a:pt x="16872" y="22542"/>
                  <a:pt x="11090" y="26351"/>
                  <a:pt x="5923" y="27643"/>
                </a:cubicBezTo>
                <a:cubicBezTo>
                  <a:pt x="4901" y="27898"/>
                  <a:pt x="4870" y="24484"/>
                  <a:pt x="5923" y="24484"/>
                </a:cubicBezTo>
                <a:cubicBezTo>
                  <a:pt x="7634" y="24484"/>
                  <a:pt x="3949" y="27511"/>
                  <a:pt x="3949" y="29222"/>
                </a:cubicBezTo>
                <a:cubicBezTo>
                  <a:pt x="3949" y="30988"/>
                  <a:pt x="7108" y="30801"/>
                  <a:pt x="8687" y="31592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9" name="Google Shape;139;p23"/>
          <p:cNvSpPr txBox="1"/>
          <p:nvPr/>
        </p:nvSpPr>
        <p:spPr>
          <a:xfrm>
            <a:off x="3866100" y="3617600"/>
            <a:ext cx="14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columns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118925" y="3059175"/>
            <a:ext cx="14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rows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2359500" y="2922225"/>
            <a:ext cx="1500600" cy="720675"/>
          </a:xfrm>
          <a:custGeom>
            <a:rect b="b" l="l" r="r" t="t"/>
            <a:pathLst>
              <a:path extrusionOk="0" h="28827" w="60024">
                <a:moveTo>
                  <a:pt x="0" y="0"/>
                </a:moveTo>
                <a:cubicBezTo>
                  <a:pt x="20403" y="8740"/>
                  <a:pt x="40171" y="18901"/>
                  <a:pt x="60024" y="28827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2" name="Google Shape;142;p23"/>
          <p:cNvSpPr/>
          <p:nvPr/>
        </p:nvSpPr>
        <p:spPr>
          <a:xfrm rot="-3073378">
            <a:off x="4980015" y="2929683"/>
            <a:ext cx="1500621" cy="720685"/>
          </a:xfrm>
          <a:custGeom>
            <a:rect b="b" l="l" r="r" t="t"/>
            <a:pathLst>
              <a:path extrusionOk="0" h="28827" w="60024">
                <a:moveTo>
                  <a:pt x="0" y="0"/>
                </a:moveTo>
                <a:cubicBezTo>
                  <a:pt x="20403" y="8740"/>
                  <a:pt x="40171" y="18901"/>
                  <a:pt x="60024" y="28827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3" name="Google Shape;143;p23"/>
          <p:cNvSpPr/>
          <p:nvPr/>
        </p:nvSpPr>
        <p:spPr>
          <a:xfrm>
            <a:off x="4018050" y="2912350"/>
            <a:ext cx="246800" cy="671325"/>
          </a:xfrm>
          <a:custGeom>
            <a:rect b="b" l="l" r="r" t="t"/>
            <a:pathLst>
              <a:path extrusionOk="0" h="26853" w="9872">
                <a:moveTo>
                  <a:pt x="0" y="0"/>
                </a:moveTo>
                <a:cubicBezTo>
                  <a:pt x="3017" y="9047"/>
                  <a:pt x="6863" y="17803"/>
                  <a:pt x="9872" y="26853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4" name="Google Shape;144;p23"/>
          <p:cNvSpPr/>
          <p:nvPr/>
        </p:nvSpPr>
        <p:spPr>
          <a:xfrm rot="-8426720">
            <a:off x="4664064" y="2912357"/>
            <a:ext cx="246794" cy="671310"/>
          </a:xfrm>
          <a:custGeom>
            <a:rect b="b" l="l" r="r" t="t"/>
            <a:pathLst>
              <a:path extrusionOk="0" h="26853" w="9872">
                <a:moveTo>
                  <a:pt x="0" y="0"/>
                </a:moveTo>
                <a:cubicBezTo>
                  <a:pt x="3017" y="9047"/>
                  <a:pt x="6863" y="17803"/>
                  <a:pt x="9872" y="26853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5" name="Google Shape;145;p23"/>
          <p:cNvSpPr/>
          <p:nvPr/>
        </p:nvSpPr>
        <p:spPr>
          <a:xfrm>
            <a:off x="563573" y="2714900"/>
            <a:ext cx="324925" cy="414650"/>
          </a:xfrm>
          <a:custGeom>
            <a:rect b="b" l="l" r="r" t="t"/>
            <a:pathLst>
              <a:path extrusionOk="0" h="16586" w="12997">
                <a:moveTo>
                  <a:pt x="1151" y="16586"/>
                </a:moveTo>
                <a:cubicBezTo>
                  <a:pt x="27" y="13214"/>
                  <a:pt x="-677" y="8971"/>
                  <a:pt x="1151" y="5923"/>
                </a:cubicBezTo>
                <a:cubicBezTo>
                  <a:pt x="3422" y="2137"/>
                  <a:pt x="8582" y="0"/>
                  <a:pt x="12997" y="0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6" name="Google Shape;146;p23"/>
          <p:cNvSpPr/>
          <p:nvPr/>
        </p:nvSpPr>
        <p:spPr>
          <a:xfrm>
            <a:off x="206508" y="1648675"/>
            <a:ext cx="632625" cy="1480875"/>
          </a:xfrm>
          <a:custGeom>
            <a:rect b="b" l="l" r="r" t="t"/>
            <a:pathLst>
              <a:path extrusionOk="0" h="59235" w="25305">
                <a:moveTo>
                  <a:pt x="4377" y="59235"/>
                </a:moveTo>
                <a:cubicBezTo>
                  <a:pt x="1681" y="49800"/>
                  <a:pt x="1435" y="39806"/>
                  <a:pt x="823" y="30012"/>
                </a:cubicBezTo>
                <a:cubicBezTo>
                  <a:pt x="336" y="22221"/>
                  <a:pt x="-1494" y="12957"/>
                  <a:pt x="3192" y="6714"/>
                </a:cubicBezTo>
                <a:cubicBezTo>
                  <a:pt x="7816" y="553"/>
                  <a:pt x="17602" y="0"/>
                  <a:pt x="25306" y="0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7" name="Google Shape;147;p23"/>
          <p:cNvSpPr/>
          <p:nvPr/>
        </p:nvSpPr>
        <p:spPr>
          <a:xfrm>
            <a:off x="357016" y="2154168"/>
            <a:ext cx="492000" cy="965500"/>
          </a:xfrm>
          <a:custGeom>
            <a:rect b="b" l="l" r="r" t="t"/>
            <a:pathLst>
              <a:path extrusionOk="0" h="38620" w="19680">
                <a:moveTo>
                  <a:pt x="4279" y="38620"/>
                </a:moveTo>
                <a:cubicBezTo>
                  <a:pt x="2413" y="27427"/>
                  <a:pt x="-2558" y="15090"/>
                  <a:pt x="1910" y="4659"/>
                </a:cubicBezTo>
                <a:cubicBezTo>
                  <a:pt x="4311" y="-946"/>
                  <a:pt x="13582" y="315"/>
                  <a:pt x="19680" y="315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graphicFrame>
        <p:nvGraphicFramePr>
          <p:cNvPr id="148" name="Google Shape;148;p23"/>
          <p:cNvGraphicFramePr/>
          <p:nvPr/>
        </p:nvGraphicFramePr>
        <p:xfrm>
          <a:off x="9525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{0958D065-6D8D-4663-B783-893015D2C9B9}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Class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Age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Score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Score_C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“Johnson”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“B”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“Johnson”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“A”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“Sydney”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“D”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445025"/>
            <a:ext cx="196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frames</a:t>
            </a:r>
            <a:endParaRPr/>
          </a:p>
        </p:txBody>
      </p:sp>
      <p:graphicFrame>
        <p:nvGraphicFramePr>
          <p:cNvPr id="154" name="Google Shape;154;p24"/>
          <p:cNvGraphicFramePr/>
          <p:nvPr/>
        </p:nvGraphicFramePr>
        <p:xfrm>
          <a:off x="9525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{0958D065-6D8D-4663-B783-893015D2C9B9}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Class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Age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Score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Score_C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“Johnson”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“B”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“Johnson”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“A”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“Sydney”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“D”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3020950"/>
            <a:ext cx="8520600" cy="18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</a:t>
            </a:r>
            <a:r>
              <a:rPr b="1" lang="en"/>
              <a:t>1. What is each column’s data type?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Q2. If we were to make one of these a factor, which would we do?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– discuss with someone </a:t>
            </a:r>
            <a:r>
              <a:rPr lang="en"/>
              <a:t>nearby</a:t>
            </a:r>
            <a:r>
              <a:rPr lang="en"/>
              <a:t> –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to filter / summarize data frames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filter(df, [condition])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i="1" lang="en" sz="1700"/>
              <a:t>Choose </a:t>
            </a:r>
            <a:r>
              <a:rPr b="1" i="1" lang="en" sz="1700"/>
              <a:t>rows</a:t>
            </a:r>
            <a:r>
              <a:rPr i="1" lang="en" sz="1700"/>
              <a:t> that match a </a:t>
            </a:r>
            <a:r>
              <a:rPr b="1" i="1" lang="en" sz="1700"/>
              <a:t>condition</a:t>
            </a:r>
            <a:endParaRPr b="1" i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select(df, [list of columns to keep])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i="1" lang="en" sz="1700"/>
              <a:t>Choose desired </a:t>
            </a:r>
            <a:r>
              <a:rPr b="1" i="1" lang="en" sz="1700"/>
              <a:t>columns</a:t>
            </a:r>
            <a:endParaRPr b="1" i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summarise(df, [columns])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i="1" lang="en" sz="1700"/>
              <a:t>Get summary statistics</a:t>
            </a:r>
            <a:endParaRPr i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group_by(df, c([columns]))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r>
              <a:rPr i="1" lang="en" sz="1700"/>
              <a:t>Artificially group rows by desired variables</a:t>
            </a:r>
            <a:endParaRPr i="1"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to filter / summarize data frames (examples)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filter(data, genotype == “A”)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select(data, name, age)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summarise(data, num = n(), meanA = mean(age))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group_by(data, c(age, class))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to modify data frames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utate(df, colName = [how to create])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i="1" lang="en" sz="1700"/>
              <a:t>Create new column from existing columns</a:t>
            </a:r>
            <a:endParaRPr i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Joining (e.g., inner_join, left_join, right_join, anti_join)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i="1" lang="en" sz="1700"/>
              <a:t>Merge two data frames based on unique, identifying columns</a:t>
            </a:r>
            <a:endParaRPr i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Change data types (e.g., as.numeric, as.character, factor, as.Date)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i="1" lang="en" sz="1700"/>
              <a:t>Force data conversion</a:t>
            </a:r>
            <a:endParaRPr i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rrange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700"/>
              <a:t>	Sort data in ascending/descending order based on desired column(s)</a:t>
            </a:r>
            <a:endParaRPr i="1"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Functions to modify data frames (examples)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mutate(data, mcRate = rate / mass)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inner_join(data1, data2, by = “ID”) #matches ID present in both data 1 and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as.numeric(data$age)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factor(data$class, 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levels = c(“johnson”, “hemmerlein”, “kuster”), 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labels = c(“J”, “H”, “K”)) #renames class levels and orders them how you want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arrange(data, ID, age) #sorts by ID then by age, ascending for both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on joins:</a:t>
            </a:r>
            <a:endParaRPr/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7898" y="59987"/>
            <a:ext cx="4925025" cy="502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/>
          <p:nvPr/>
        </p:nvSpPr>
        <p:spPr>
          <a:xfrm rot="8247299">
            <a:off x="4131610" y="2982812"/>
            <a:ext cx="366476" cy="28091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C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9"/>
          <p:cNvSpPr txBox="1"/>
          <p:nvPr/>
        </p:nvSpPr>
        <p:spPr>
          <a:xfrm>
            <a:off x="1956885" y="3286562"/>
            <a:ext cx="248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anti_join(df1, df2, by = “ID”)</a:t>
            </a:r>
            <a:endParaRPr sz="1300">
              <a:solidFill>
                <a:schemeClr val="dk2"/>
              </a:solidFill>
            </a:endParaRPr>
          </a:p>
        </p:txBody>
      </p:sp>
      <p:graphicFrame>
        <p:nvGraphicFramePr>
          <p:cNvPr id="188" name="Google Shape;188;p29"/>
          <p:cNvGraphicFramePr/>
          <p:nvPr/>
        </p:nvGraphicFramePr>
        <p:xfrm>
          <a:off x="3071647" y="36810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{0958D065-6D8D-4663-B783-893015D2C9B9}</a:tableStyleId>
              </a:tblPr>
              <a:tblGrid>
                <a:gridCol w="469200"/>
                <a:gridCol w="469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ID</a:t>
                      </a:r>
                      <a:endParaRPr sz="13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T1</a:t>
                      </a:r>
                      <a:endParaRPr sz="13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</a:t>
                      </a:r>
                      <a:endParaRPr sz="1300"/>
                    </a:p>
                  </a:txBody>
                  <a:tcPr marT="91425" marB="91425" marR="91425" marL="91425">
                    <a:solidFill>
                      <a:srgbClr val="89B8D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9" name="Google Shape;189;p29"/>
          <p:cNvSpPr txBox="1"/>
          <p:nvPr/>
        </p:nvSpPr>
        <p:spPr>
          <a:xfrm>
            <a:off x="3238733" y="2965832"/>
            <a:ext cx="93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ANTI join</a:t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363575" y="1208350"/>
            <a:ext cx="2071800" cy="23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 or more data frames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</a:t>
            </a:r>
            <a:r>
              <a:rPr b="1" lang="en" sz="1800">
                <a:solidFill>
                  <a:schemeClr val="dk2"/>
                </a:solidFill>
              </a:rPr>
              <a:t>unique</a:t>
            </a:r>
            <a:r>
              <a:rPr lang="en" sz="1800">
                <a:solidFill>
                  <a:schemeClr val="dk2"/>
                </a:solidFill>
              </a:rPr>
              <a:t> identifier column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on logical tests: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A equal to B?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 ==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A greater than B?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 &gt;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A greater than or equal to B?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 &gt;=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A not equal to B?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A != B</a:t>
            </a:r>
            <a:endParaRPr/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46796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A in my vector myVector?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 %in% myVector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5471" y="2315375"/>
            <a:ext cx="2018725" cy="23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311700" y="1658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5-10min break</a:t>
            </a:r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5300"/>
            <a:ext cx="9144000" cy="3497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311700" y="11100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Introduction</a:t>
            </a:r>
            <a:endParaRPr/>
          </a:p>
        </p:txBody>
      </p:sp>
      <p:pic>
        <p:nvPicPr>
          <p:cNvPr id="210" name="Google Shape;210;p32" title="Screenshot 2026-03-31 at 11.02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58" y="1425725"/>
            <a:ext cx="8310301" cy="347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Island tortoises &amp; sex bias</a:t>
            </a:r>
            <a:endParaRPr/>
          </a:p>
        </p:txBody>
      </p:sp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311700" y="1152475"/>
            <a:ext cx="456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Extinction vortex: </a:t>
            </a:r>
            <a:r>
              <a:rPr lang="en"/>
              <a:t>process through which species becoming increasingly in danger of extinction, exacerbated by environmental, demographic, and genetic characteristics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3" title="Screenshot 2026-03-31 at 10.50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140" y="0"/>
            <a:ext cx="40178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3"/>
          <p:cNvSpPr txBox="1"/>
          <p:nvPr/>
        </p:nvSpPr>
        <p:spPr>
          <a:xfrm>
            <a:off x="7819425" y="2138575"/>
            <a:ext cx="1228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Beach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More males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7960850" y="4363725"/>
            <a:ext cx="122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Very few females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20" name="Google Shape;220;p33"/>
          <p:cNvSpPr txBox="1"/>
          <p:nvPr/>
        </p:nvSpPr>
        <p:spPr>
          <a:xfrm>
            <a:off x="8104590" y="655742"/>
            <a:ext cx="93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Near even sex ratio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221" name="Google Shape;22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716575"/>
            <a:ext cx="2892851" cy="233732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3"/>
          <p:cNvSpPr txBox="1"/>
          <p:nvPr/>
        </p:nvSpPr>
        <p:spPr>
          <a:xfrm>
            <a:off x="3279125" y="3791800"/>
            <a:ext cx="1381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Hermann’s tortoise from Golem Grad injuries from cliff falls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variables</a:t>
            </a:r>
            <a:endParaRPr/>
          </a:p>
        </p:txBody>
      </p:sp>
      <p:sp>
        <p:nvSpPr>
          <p:cNvPr id="228" name="Google Shape;228;p34"/>
          <p:cNvSpPr txBox="1"/>
          <p:nvPr>
            <p:ph idx="1" type="body"/>
          </p:nvPr>
        </p:nvSpPr>
        <p:spPr>
          <a:xfrm>
            <a:off x="311700" y="1152475"/>
            <a:ext cx="513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SCL</a:t>
            </a:r>
            <a:r>
              <a:rPr lang="en"/>
              <a:t>: carapace length (length of top of the shell)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BM</a:t>
            </a:r>
            <a:r>
              <a:rPr lang="en"/>
              <a:t>: body mass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Year</a:t>
            </a:r>
            <a:r>
              <a:rPr lang="en"/>
              <a:t>: year of capture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Season</a:t>
            </a:r>
            <a:r>
              <a:rPr lang="en"/>
              <a:t>: season of capture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Loc</a:t>
            </a:r>
            <a:r>
              <a:rPr lang="en"/>
              <a:t>: where the tortoise was captured from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BCI</a:t>
            </a:r>
            <a:r>
              <a:rPr lang="en"/>
              <a:t>: body condition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Year_recode</a:t>
            </a:r>
            <a:r>
              <a:rPr lang="en"/>
              <a:t>: year of study duration tortoise was captured in</a:t>
            </a:r>
            <a:endParaRPr/>
          </a:p>
        </p:txBody>
      </p:sp>
      <p:pic>
        <p:nvPicPr>
          <p:cNvPr id="229" name="Google Shape;22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665300" y="1654950"/>
            <a:ext cx="3243774" cy="21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let’s get going! </a:t>
            </a:r>
            <a:endParaRPr/>
          </a:p>
        </p:txBody>
      </p:sp>
      <p:sp>
        <p:nvSpPr>
          <p:cNvPr id="235" name="Google Shape;235;p35"/>
          <p:cNvSpPr txBox="1"/>
          <p:nvPr>
            <p:ph idx="1" type="body"/>
          </p:nvPr>
        </p:nvSpPr>
        <p:spPr>
          <a:xfrm>
            <a:off x="311700" y="1152475"/>
            <a:ext cx="830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create a new directory (folder) specific for this week’s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Then, download the .Rmd for Day 1 and put it in that folder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Download the zipped data file &amp; move the (unzipped) folder to the class dir: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https://figshare.com/articles/journal_contribution/Sex_ratio_bias_triggers_demographic_suicide_in_a_dense_tortoise_population/30752687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Open the .Rmd in R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63" y="391663"/>
            <a:ext cx="3190875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6"/>
          <p:cNvSpPr txBox="1"/>
          <p:nvPr>
            <p:ph type="ctrTitle"/>
          </p:nvPr>
        </p:nvSpPr>
        <p:spPr>
          <a:xfrm>
            <a:off x="2706500" y="1541275"/>
            <a:ext cx="5926800" cy="108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Tidyverse Day 2!</a:t>
            </a:r>
            <a:endParaRPr/>
          </a:p>
        </p:txBody>
      </p:sp>
      <p:sp>
        <p:nvSpPr>
          <p:cNvPr id="242" name="Google Shape;242;p36"/>
          <p:cNvSpPr txBox="1"/>
          <p:nvPr>
            <p:ph idx="1" type="subTitle"/>
          </p:nvPr>
        </p:nvSpPr>
        <p:spPr>
          <a:xfrm>
            <a:off x="3884150" y="2624575"/>
            <a:ext cx="3571500" cy="11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Shady and Meg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2026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311700" y="445025"/>
            <a:ext cx="39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Monday</a:t>
            </a:r>
            <a:endParaRPr/>
          </a:p>
        </p:txBody>
      </p:sp>
      <p:sp>
        <p:nvSpPr>
          <p:cNvPr id="248" name="Google Shape;248;p37"/>
          <p:cNvSpPr txBox="1"/>
          <p:nvPr>
            <p:ph idx="1" type="body"/>
          </p:nvPr>
        </p:nvSpPr>
        <p:spPr>
          <a:xfrm>
            <a:off x="311700" y="1152475"/>
            <a:ext cx="394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tidy data?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types + structures review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5-10min break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Cleaning up a real dataset</a:t>
            </a:r>
            <a:endParaRPr/>
          </a:p>
        </p:txBody>
      </p:sp>
      <p:sp>
        <p:nvSpPr>
          <p:cNvPr id="249" name="Google Shape;249;p37"/>
          <p:cNvSpPr txBox="1"/>
          <p:nvPr>
            <p:ph type="title"/>
          </p:nvPr>
        </p:nvSpPr>
        <p:spPr>
          <a:xfrm>
            <a:off x="45720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</a:t>
            </a:r>
            <a:endParaRPr/>
          </a:p>
        </p:txBody>
      </p:sp>
      <p:sp>
        <p:nvSpPr>
          <p:cNvPr id="250" name="Google Shape;250;p37"/>
          <p:cNvSpPr txBox="1"/>
          <p:nvPr>
            <p:ph idx="1" type="body"/>
          </p:nvPr>
        </p:nvSpPr>
        <p:spPr>
          <a:xfrm>
            <a:off x="4572000" y="1152475"/>
            <a:ext cx="394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Day 1 brief review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Data formatting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Applications of tidy data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highlight>
                  <a:schemeClr val="lt1"/>
                </a:highlight>
              </a:rPr>
              <a:t>Real dataset analysis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251" name="Google Shape;25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100" y="0"/>
            <a:ext cx="1458600" cy="145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7" title="Screenshot 2026-03-31 at 11.27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7550" y="115525"/>
            <a:ext cx="1641224" cy="122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class</a:t>
            </a:r>
            <a:endParaRPr/>
          </a:p>
        </p:txBody>
      </p:sp>
      <p:sp>
        <p:nvSpPr>
          <p:cNvPr id="258" name="Google Shape;258;p38"/>
          <p:cNvSpPr txBox="1"/>
          <p:nvPr>
            <p:ph idx="1" type="body"/>
          </p:nvPr>
        </p:nvSpPr>
        <p:spPr>
          <a:xfrm>
            <a:off x="311700" y="1152475"/>
            <a:ext cx="469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Defined tidy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Learned data types (logical, numeric)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Learned functions to clean up a dataset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Filter, select, summarise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Mutate, joining, as.functions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Joining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Generated cleaned dataset for island turtles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652050" y="1694700"/>
            <a:ext cx="3243774" cy="2162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8"/>
          <p:cNvSpPr/>
          <p:nvPr/>
        </p:nvSpPr>
        <p:spPr>
          <a:xfrm>
            <a:off x="5885875" y="1988450"/>
            <a:ext cx="848400" cy="795300"/>
          </a:xfrm>
          <a:prstGeom prst="wedgeEllipseCallout">
            <a:avLst>
              <a:gd fmla="val 48438" name="adj1"/>
              <a:gd fmla="val 6334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Nice!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</a:t>
            </a:r>
            <a:endParaRPr/>
          </a:p>
        </p:txBody>
      </p:sp>
      <p:sp>
        <p:nvSpPr>
          <p:cNvPr id="266" name="Google Shape;26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Logical</a:t>
            </a:r>
            <a:r>
              <a:rPr lang="en"/>
              <a:t>: boolean indicator data type; 0,1 or FALSE, TRUE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Numeric</a:t>
            </a:r>
            <a:r>
              <a:rPr lang="en"/>
              <a:t>: general number; 0.111, 3, 400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Double:</a:t>
            </a:r>
            <a:r>
              <a:rPr lang="en"/>
              <a:t> default type of numeric; 0.002, 1.20 (1 is also stored as double)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Integer:</a:t>
            </a:r>
            <a:r>
              <a:rPr lang="en"/>
              <a:t> specific type of numeric; 1L, 4L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Character:</a:t>
            </a:r>
            <a:r>
              <a:rPr lang="en"/>
              <a:t> string of letters, characters, words; “hello”, “Y”, “,”, “3”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highlight>
                  <a:srgbClr val="FFF2CC"/>
                </a:highlight>
              </a:rPr>
              <a:t>Factor:</a:t>
            </a:r>
            <a:r>
              <a:rPr lang="en">
                <a:highlight>
                  <a:srgbClr val="FFF2CC"/>
                </a:highlight>
              </a:rPr>
              <a:t> meaningful categories with levels; “Strain A”, “Strain B”, “Strain C”</a:t>
            </a:r>
            <a:endParaRPr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Factors have levels</a:t>
            </a:r>
            <a:endParaRPr/>
          </a:p>
        </p:txBody>
      </p:sp>
      <p:sp>
        <p:nvSpPr>
          <p:cNvPr id="272" name="Google Shape;272;p40"/>
          <p:cNvSpPr txBox="1"/>
          <p:nvPr>
            <p:ph idx="1" type="body"/>
          </p:nvPr>
        </p:nvSpPr>
        <p:spPr>
          <a:xfrm>
            <a:off x="311700" y="1152475"/>
            <a:ext cx="8520600" cy="37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Ordered visualization</a:t>
            </a:r>
            <a:r>
              <a:rPr lang="en"/>
              <a:t>: allows for re-ordering on plots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Proper modeling</a:t>
            </a:r>
            <a:r>
              <a:rPr b="1" lang="en"/>
              <a:t>:</a:t>
            </a:r>
            <a:r>
              <a:rPr lang="en"/>
              <a:t> statistical testing requires at least </a:t>
            </a:r>
            <a:r>
              <a:rPr b="1" lang="en"/>
              <a:t>one factor</a:t>
            </a:r>
            <a:r>
              <a:rPr lang="en"/>
              <a:t> with categorical </a:t>
            </a:r>
            <a:r>
              <a:rPr lang="en"/>
              <a:t>variables</a:t>
            </a:r>
            <a:r>
              <a:rPr lang="en"/>
              <a:t>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ex) the impact of locality on egg size (egg size ~ </a:t>
            </a:r>
            <a:r>
              <a:rPr b="1" lang="en"/>
              <a:t>locality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Setting a reference group</a:t>
            </a:r>
            <a:r>
              <a:rPr lang="en"/>
              <a:t>: important for statistical testing in which you want a reference group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ex) the effect of treatment on cell count (cell count ~ </a:t>
            </a:r>
            <a:r>
              <a:rPr b="1" lang="en"/>
              <a:t>treatment</a:t>
            </a:r>
            <a:r>
              <a:rPr lang="en"/>
              <a:t>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you’d want ‘saline control’ as a reference, rather than ‘Drug A’</a:t>
            </a:r>
            <a:endParaRPr/>
          </a:p>
        </p:txBody>
      </p:sp>
      <p:pic>
        <p:nvPicPr>
          <p:cNvPr id="273" name="Google Shape;273;p40"/>
          <p:cNvPicPr preferRelativeResize="0"/>
          <p:nvPr/>
        </p:nvPicPr>
        <p:blipFill rotWithShape="1">
          <a:blip r:embed="rId3">
            <a:alphaModFix/>
          </a:blip>
          <a:srcRect b="21713" l="0" r="0" t="22499"/>
          <a:stretch/>
        </p:blipFill>
        <p:spPr>
          <a:xfrm>
            <a:off x="7058000" y="107175"/>
            <a:ext cx="1952826" cy="14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1" title="clutch.png"/>
          <p:cNvPicPr preferRelativeResize="0"/>
          <p:nvPr/>
        </p:nvPicPr>
        <p:blipFill rotWithShape="1">
          <a:blip r:embed="rId3">
            <a:alphaModFix/>
          </a:blip>
          <a:srcRect b="0" l="0" r="12831" t="0"/>
          <a:stretch/>
        </p:blipFill>
        <p:spPr>
          <a:xfrm>
            <a:off x="4450900" y="1017738"/>
            <a:ext cx="4381399" cy="376987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Re-leveling and re-coding factors</a:t>
            </a:r>
            <a:endParaRPr/>
          </a:p>
        </p:txBody>
      </p:sp>
      <p:sp>
        <p:nvSpPr>
          <p:cNvPr id="280" name="Google Shape;280;p41"/>
          <p:cNvSpPr txBox="1"/>
          <p:nvPr>
            <p:ph idx="1" type="body"/>
          </p:nvPr>
        </p:nvSpPr>
        <p:spPr>
          <a:xfrm>
            <a:off x="252150" y="1110763"/>
            <a:ext cx="4081800" cy="3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class(df$column)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df</a:t>
            </a:r>
            <a:r>
              <a:rPr lang="en"/>
              <a:t>$column = as.factor(df$column)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levels(df$column)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df = df %&gt;%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mutate(column = 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fct_relevel</a:t>
            </a:r>
            <a:r>
              <a:rPr lang="en"/>
              <a:t>(column, "A", "C", "B")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 = df %&gt;%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mutate(column = 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fct_recode</a:t>
            </a:r>
            <a:r>
              <a:rPr lang="en"/>
              <a:t>(column, 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“New_name1” = "Old_name1", 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“New_name2” = "Old_name2",  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“New_name3” = "Old_name3")</a:t>
            </a:r>
            <a:endParaRPr/>
          </a:p>
        </p:txBody>
      </p:sp>
      <p:pic>
        <p:nvPicPr>
          <p:cNvPr id="281" name="Google Shape;28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2350" y="102400"/>
            <a:ext cx="1509950" cy="17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42" title="clutch_relevel.png"/>
          <p:cNvPicPr preferRelativeResize="0"/>
          <p:nvPr/>
        </p:nvPicPr>
        <p:blipFill rotWithShape="1">
          <a:blip r:embed="rId3">
            <a:alphaModFix/>
          </a:blip>
          <a:srcRect b="0" l="0" r="12127" t="0"/>
          <a:stretch/>
        </p:blipFill>
        <p:spPr>
          <a:xfrm>
            <a:off x="4450900" y="1017725"/>
            <a:ext cx="4381399" cy="373959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Re-leveling factors (example)</a:t>
            </a:r>
            <a:endParaRPr/>
          </a:p>
        </p:txBody>
      </p:sp>
      <p:sp>
        <p:nvSpPr>
          <p:cNvPr id="288" name="Google Shape;288;p42"/>
          <p:cNvSpPr txBox="1"/>
          <p:nvPr>
            <p:ph idx="1" type="body"/>
          </p:nvPr>
        </p:nvSpPr>
        <p:spPr>
          <a:xfrm>
            <a:off x="311700" y="1434313"/>
            <a:ext cx="4331700" cy="3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class(clutch_size$locality)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clutch_size$locality</a:t>
            </a:r>
            <a:r>
              <a:rPr lang="en"/>
              <a:t> = as.factor(</a:t>
            </a:r>
            <a:r>
              <a:rPr lang="en"/>
              <a:t>clutch_size$locality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levels(</a:t>
            </a:r>
            <a:r>
              <a:rPr lang="en"/>
              <a:t>clutch_size$locality</a:t>
            </a:r>
            <a:r>
              <a:rPr lang="en"/>
              <a:t>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clutch_size</a:t>
            </a:r>
            <a:r>
              <a:rPr lang="en"/>
              <a:t> = </a:t>
            </a:r>
            <a:r>
              <a:rPr lang="en"/>
              <a:t>clutch_size </a:t>
            </a:r>
            <a:r>
              <a:rPr lang="en"/>
              <a:t>%&gt;%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mutate(</a:t>
            </a:r>
            <a:r>
              <a:rPr lang="en"/>
              <a:t>locality</a:t>
            </a:r>
            <a:r>
              <a:rPr lang="en"/>
              <a:t> = </a:t>
            </a:r>
            <a:r>
              <a:rPr b="1" lang="en"/>
              <a:t>fct_relevel</a:t>
            </a:r>
            <a:r>
              <a:rPr lang="en"/>
              <a:t>(</a:t>
            </a:r>
            <a:r>
              <a:rPr lang="en"/>
              <a:t>locality</a:t>
            </a:r>
            <a:r>
              <a:rPr lang="en"/>
              <a:t>, 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"Beach", 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"Plateau", 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"Konjsko")))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3" title="clutch_recode.png"/>
          <p:cNvPicPr preferRelativeResize="0"/>
          <p:nvPr/>
        </p:nvPicPr>
        <p:blipFill rotWithShape="1">
          <a:blip r:embed="rId3">
            <a:alphaModFix/>
          </a:blip>
          <a:srcRect b="0" l="0" r="16395" t="0"/>
          <a:stretch/>
        </p:blipFill>
        <p:spPr>
          <a:xfrm>
            <a:off x="4500600" y="959675"/>
            <a:ext cx="4331699" cy="388600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Re-coding factors (example)</a:t>
            </a:r>
            <a:endParaRPr/>
          </a:p>
        </p:txBody>
      </p:sp>
      <p:sp>
        <p:nvSpPr>
          <p:cNvPr id="295" name="Google Shape;295;p43"/>
          <p:cNvSpPr txBox="1"/>
          <p:nvPr>
            <p:ph idx="1" type="body"/>
          </p:nvPr>
        </p:nvSpPr>
        <p:spPr>
          <a:xfrm>
            <a:off x="144900" y="1469475"/>
            <a:ext cx="4427100" cy="3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clutch_size = clutch_size %&gt;%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mutate(locality = </a:t>
            </a:r>
            <a:r>
              <a:rPr b="1" lang="en"/>
              <a:t>fct_recode</a:t>
            </a:r>
            <a:r>
              <a:rPr lang="en"/>
              <a:t>(locality,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"SunnyBeach" = "Beach",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"ScaryPlateau" = "Plateau",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"CoolKonjsko" = "Konjsko"))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Piping</a:t>
            </a:r>
            <a:endParaRPr/>
          </a:p>
        </p:txBody>
      </p:sp>
      <p:sp>
        <p:nvSpPr>
          <p:cNvPr id="301" name="Google Shape;301;p44"/>
          <p:cNvSpPr txBox="1"/>
          <p:nvPr/>
        </p:nvSpPr>
        <p:spPr>
          <a:xfrm>
            <a:off x="1885050" y="4469050"/>
            <a:ext cx="2131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Magrittr package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02" name="Google Shape;3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50" y="2885522"/>
            <a:ext cx="1745800" cy="2022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4"/>
          <p:cNvSpPr txBox="1"/>
          <p:nvPr/>
        </p:nvSpPr>
        <p:spPr>
          <a:xfrm>
            <a:off x="559575" y="1238250"/>
            <a:ext cx="3786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clutch_size = clutch_size </a:t>
            </a:r>
            <a:r>
              <a:rPr b="1" lang="en" sz="1800">
                <a:solidFill>
                  <a:srgbClr val="FF0000"/>
                </a:solidFill>
              </a:rPr>
              <a:t>%&gt;%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mutate(locality = </a:t>
            </a:r>
            <a:r>
              <a:rPr lang="en" sz="1800">
                <a:solidFill>
                  <a:schemeClr val="dk2"/>
                </a:solidFill>
              </a:rPr>
              <a:t>fct_relevel(</a:t>
            </a:r>
            <a:r>
              <a:rPr lang="en" sz="1800">
                <a:solidFill>
                  <a:schemeClr val="dk2"/>
                </a:solidFill>
              </a:rPr>
              <a:t>locality,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"Beach",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"Plateau",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"Konjsko")))</a:t>
            </a:r>
            <a:endParaRPr/>
          </a:p>
        </p:txBody>
      </p:sp>
      <p:pic>
        <p:nvPicPr>
          <p:cNvPr id="304" name="Google Shape;30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7038" y="1776227"/>
            <a:ext cx="3590426" cy="269282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4"/>
          <p:cNvSpPr txBox="1"/>
          <p:nvPr/>
        </p:nvSpPr>
        <p:spPr>
          <a:xfrm>
            <a:off x="4772225" y="951575"/>
            <a:ext cx="34797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Treachery of Images (1929)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Rene Magritte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piping?</a:t>
            </a:r>
            <a:endParaRPr/>
          </a:p>
        </p:txBody>
      </p:sp>
      <p:pic>
        <p:nvPicPr>
          <p:cNvPr id="311" name="Google Shape;31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75" y="1236425"/>
            <a:ext cx="4241250" cy="302825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5"/>
          <p:cNvSpPr txBox="1"/>
          <p:nvPr/>
        </p:nvSpPr>
        <p:spPr>
          <a:xfrm>
            <a:off x="4845900" y="1280100"/>
            <a:ext cx="3986400" cy="29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Structuring sequences of data operations left-to-right (as opposed to from inside and out)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Avoiding nesting function calls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Minimizing the need for local variables and function definitions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Making it easy to add steps anywhere in the sequence of operations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local variables</a:t>
            </a:r>
            <a:endParaRPr/>
          </a:p>
        </p:txBody>
      </p:sp>
      <p:sp>
        <p:nvSpPr>
          <p:cNvPr id="318" name="Google Shape;318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Tortoise_body_condition_selected = 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select(tortoise_body_condition, -c(...1, res, log_BCI, loc_sex_cohort))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Tortoise_body_condition_selected_grouped =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group_by(Tortoise_body_condition_selected, ind)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Tortoise_body_condition_selected_grouped_arranged =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arrange(Tortoise_body_condition_selected_grouped, year_recode, </a:t>
            </a:r>
            <a:endParaRPr/>
          </a:p>
          <a:p>
            <a:pPr indent="457200" lvl="0" marL="5486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.by_group = TRUE)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coding</a:t>
            </a:r>
            <a:endParaRPr/>
          </a:p>
        </p:txBody>
      </p:sp>
      <p:sp>
        <p:nvSpPr>
          <p:cNvPr id="324" name="Google Shape;324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Tortoise_body_condition_selected_grouped_arranged =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</a:t>
            </a:r>
            <a:r>
              <a:rPr lang="en">
                <a:solidFill>
                  <a:srgbClr val="FF0000"/>
                </a:solidFill>
              </a:rPr>
              <a:t>dplyr::arrange(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FF00FF"/>
                </a:solidFill>
              </a:rPr>
              <a:t>dplyr::group_by(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</a:t>
            </a:r>
            <a:r>
              <a:rPr lang="en">
                <a:solidFill>
                  <a:srgbClr val="4A86E8"/>
                </a:solidFill>
              </a:rPr>
              <a:t>dplyr::select(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</a:t>
            </a:r>
            <a:r>
              <a:rPr b="1" lang="en"/>
              <a:t>tortoise_body_condition,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</a:t>
            </a:r>
            <a:r>
              <a:rPr lang="en">
                <a:solidFill>
                  <a:srgbClr val="4A86E8"/>
                </a:solidFill>
              </a:rPr>
              <a:t>-c(...1, res, log_BCI, loc_sex_cohort)),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</a:t>
            </a:r>
            <a:r>
              <a:rPr lang="en">
                <a:solidFill>
                  <a:srgbClr val="FF00FF"/>
                </a:solidFill>
              </a:rPr>
              <a:t>ind),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FF0000"/>
                </a:solidFill>
              </a:rPr>
              <a:t>year_recode, .by_group = TRUE)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Piped code example</a:t>
            </a:r>
            <a:endParaRPr/>
          </a:p>
        </p:txBody>
      </p:sp>
      <p:sp>
        <p:nvSpPr>
          <p:cNvPr id="330" name="Google Shape;330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ortoise_body_condition_cleaned = 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tortoise_</a:t>
            </a:r>
            <a:r>
              <a:rPr lang="en"/>
              <a:t>body_condition %&gt;%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			select(-c(...1, res, log_BCI, loc_sex_cohort)) %&gt;%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			group_by(ind) %&gt;%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			arrange(year_recode, .by_group = TRUE)</a:t>
            </a:r>
            <a:endParaRPr/>
          </a:p>
        </p:txBody>
      </p:sp>
      <p:pic>
        <p:nvPicPr>
          <p:cNvPr id="331" name="Google Shape;33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7951" y="2961700"/>
            <a:ext cx="2660375" cy="1899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Wide vs long format data</a:t>
            </a:r>
            <a:endParaRPr/>
          </a:p>
        </p:txBody>
      </p:sp>
      <p:pic>
        <p:nvPicPr>
          <p:cNvPr id="337" name="Google Shape;33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575" y="1123250"/>
            <a:ext cx="5348838" cy="3820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Pivot longer</a:t>
            </a:r>
            <a:endParaRPr/>
          </a:p>
        </p:txBody>
      </p:sp>
      <p:pic>
        <p:nvPicPr>
          <p:cNvPr id="343" name="Google Shape;343;p50" title="Screenshot 2026-04-05 at 10.43.3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937" y="1017725"/>
            <a:ext cx="6223574" cy="374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Pivot wider</a:t>
            </a:r>
            <a:endParaRPr/>
          </a:p>
        </p:txBody>
      </p:sp>
      <p:pic>
        <p:nvPicPr>
          <p:cNvPr id="349" name="Google Shape;349;p51" title="Screenshot 2026-04-05 at 10.44.2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725" y="1048250"/>
            <a:ext cx="6223575" cy="371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2"/>
          <p:cNvSpPr txBox="1"/>
          <p:nvPr>
            <p:ph type="title"/>
          </p:nvPr>
        </p:nvSpPr>
        <p:spPr>
          <a:xfrm>
            <a:off x="311700" y="1658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5-10min break</a:t>
            </a:r>
            <a:endParaRPr/>
          </a:p>
        </p:txBody>
      </p:sp>
      <p:pic>
        <p:nvPicPr>
          <p:cNvPr id="355" name="Google Shape;35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738" y="1007625"/>
            <a:ext cx="7320525" cy="38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Application of tidy data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61" name="Google Shape;361;p53" title="Screenshot 2026-03-30 at 1.21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850" y="1191213"/>
            <a:ext cx="5502324" cy="362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3"/>
          <p:cNvSpPr txBox="1"/>
          <p:nvPr/>
        </p:nvSpPr>
        <p:spPr>
          <a:xfrm>
            <a:off x="6748650" y="4743300"/>
            <a:ext cx="239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https://r-graph-gallery.com/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Island tortoises &amp; sex bias</a:t>
            </a:r>
            <a:endParaRPr/>
          </a:p>
        </p:txBody>
      </p:sp>
      <p:sp>
        <p:nvSpPr>
          <p:cNvPr id="368" name="Google Shape;368;p54"/>
          <p:cNvSpPr txBox="1"/>
          <p:nvPr>
            <p:ph idx="1" type="body"/>
          </p:nvPr>
        </p:nvSpPr>
        <p:spPr>
          <a:xfrm>
            <a:off x="311700" y="1152475"/>
            <a:ext cx="456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Extinction vortex: </a:t>
            </a:r>
            <a:r>
              <a:rPr lang="en"/>
              <a:t>process through which species becoming increasingly in danger of extinction, exacerbated by environmental, demographic, and genetic characteristics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9" name="Google Shape;369;p54" title="Screenshot 2026-03-31 at 10.50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140" y="0"/>
            <a:ext cx="40178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4"/>
          <p:cNvSpPr txBox="1"/>
          <p:nvPr/>
        </p:nvSpPr>
        <p:spPr>
          <a:xfrm>
            <a:off x="7819425" y="2138575"/>
            <a:ext cx="1228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Beach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More males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71" name="Google Shape;371;p54"/>
          <p:cNvSpPr txBox="1"/>
          <p:nvPr/>
        </p:nvSpPr>
        <p:spPr>
          <a:xfrm>
            <a:off x="7960850" y="4363725"/>
            <a:ext cx="122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Very few females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72" name="Google Shape;372;p54"/>
          <p:cNvSpPr txBox="1"/>
          <p:nvPr/>
        </p:nvSpPr>
        <p:spPr>
          <a:xfrm>
            <a:off x="8104590" y="655742"/>
            <a:ext cx="93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Near even sex ratio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373" name="Google Shape;37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716575"/>
            <a:ext cx="2892851" cy="233732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54"/>
          <p:cNvSpPr txBox="1"/>
          <p:nvPr/>
        </p:nvSpPr>
        <p:spPr>
          <a:xfrm>
            <a:off x="3279125" y="3791800"/>
            <a:ext cx="1381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Hermann’s tortoise from Golem Grad injuries from cliff falls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of interest</a:t>
            </a:r>
            <a:endParaRPr/>
          </a:p>
        </p:txBody>
      </p:sp>
      <p:sp>
        <p:nvSpPr>
          <p:cNvPr id="380" name="Google Shape;380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it seem easier to recapture male or female tortoises?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recaptures happen more often in spring or summer?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Between the springs of 2009 and 2010, did the turtles grow differently based on locality?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let’s get going! </a:t>
            </a:r>
            <a:endParaRPr/>
          </a:p>
        </p:txBody>
      </p:sp>
      <p:sp>
        <p:nvSpPr>
          <p:cNvPr id="386" name="Google Shape;386;p56"/>
          <p:cNvSpPr txBox="1"/>
          <p:nvPr>
            <p:ph idx="1" type="body"/>
          </p:nvPr>
        </p:nvSpPr>
        <p:spPr>
          <a:xfrm>
            <a:off x="311700" y="1152475"/>
            <a:ext cx="830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the tidyR-Day2.Rmd in 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Read in cleaned data from last class!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to learn more?</a:t>
            </a:r>
            <a:endParaRPr/>
          </a:p>
        </p:txBody>
      </p:sp>
      <p:sp>
        <p:nvSpPr>
          <p:cNvPr id="392" name="Google Shape;392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Tidyverse Datacamp Cheat Sheet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R Project Tidydata Intro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Tidy Tuesday Github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Advanced Tidyverse by the National Socio-Environmental Synthesis Center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Examples of Tidy &amp; Non-tidy Data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