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531" r:id="rId3"/>
    <p:sldId id="257" r:id="rId4"/>
    <p:sldId id="271" r:id="rId5"/>
    <p:sldId id="258" r:id="rId6"/>
    <p:sldId id="259" r:id="rId7"/>
    <p:sldId id="267" r:id="rId8"/>
    <p:sldId id="270" r:id="rId9"/>
    <p:sldId id="268" r:id="rId10"/>
    <p:sldId id="532" r:id="rId11"/>
    <p:sldId id="260" r:id="rId12"/>
    <p:sldId id="261" r:id="rId13"/>
    <p:sldId id="273" r:id="rId14"/>
    <p:sldId id="275" r:id="rId15"/>
    <p:sldId id="262" r:id="rId16"/>
    <p:sldId id="530" r:id="rId17"/>
    <p:sldId id="53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9FB2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00" autoAdjust="0"/>
    <p:restoredTop sz="86989" autoAdjust="0"/>
  </p:normalViewPr>
  <p:slideViewPr>
    <p:cSldViewPr snapToGrid="0">
      <p:cViewPr varScale="1">
        <p:scale>
          <a:sx n="104" d="100"/>
          <a:sy n="104" d="100"/>
        </p:scale>
        <p:origin x="1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8A431-812E-4530-8438-B2447425536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3A572-709A-4159-AB2C-1D493108C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03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going to touch statistics because these are often done prior to plotting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3A572-709A-4159-AB2C-1D493108C7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96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3A572-709A-4159-AB2C-1D493108C7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21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3A572-709A-4159-AB2C-1D493108C7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02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185E-FF55-9F6D-6D66-4047698F5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3C942-44AF-1EAC-8B16-CC0FA26AA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AF02E-3634-696E-CAD8-53D41C18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56DE5-F736-0CC1-3949-9863F23B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FD854-E670-B6F3-892C-FAE25755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8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B2F96-7F4C-1A66-12DC-4709DC38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7800-EE60-A88F-E5F8-E59FC2094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A2EBF-4C52-7832-6D07-B868FABE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B0D94-28A0-3D4D-486A-9FBD0869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E5111-E6E8-202B-7410-67792B59B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1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E524-044E-64D7-5121-9BF771BE9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00416-A3C9-D3D3-9505-D2443ED68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3FB6F-E210-E809-6669-BB4DFC9F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CF8D2-36F3-401A-0351-3DEA71B3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51AD1-60D9-13C2-1E6E-46879381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2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DA640-3D3A-6B09-34CD-7E2A61A7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CC9A-3BE8-5F50-2E3E-071139093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93F328-564C-7CA2-6B83-7767622C3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B1A90-A7B4-235B-13F3-0BD5D08DD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FDFB4-2EC7-2C03-D722-08295539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DD25E-EF2A-2362-4C42-D30B8240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7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DB31-42DB-2C5C-5619-AE3A73BC1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F924F-5F5E-4980-3AEF-6066524F3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F07F2-C4DB-80A2-1395-771786586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E7346-35C2-F830-A2FF-4959D4672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A8AAA2-21B7-C849-DF7D-A5862BBFA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BA070-3FF2-7CCF-5373-243C3382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32D70-E0A2-7836-6D9E-E9D49787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09CAED-C1D4-32CC-D218-4B529937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5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63B1-0F02-A756-3745-F3F2045A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4CBE84-BC01-B175-0675-B741B0D7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17D04-310D-34A3-298D-7F1BEE06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CD36C-2613-5F8C-980A-0F7771BB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8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95669-CF21-FFB4-9427-0122FA32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1EBE3-CEDD-9D85-6385-BD8A2DF25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49AC2-E8A0-419C-4913-37855C15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734B-0130-56E6-F461-432B0AD5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E080D-AF93-F046-2831-A57F659F5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DF55C-3C12-199F-3AB7-7A89B196A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27886-FE8D-212A-E90C-BC3C09D55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3E30B-C547-CC5D-5329-4CBDAA836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B19D5-FBFD-ED98-3D0D-959333753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3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6E86-7A82-4A76-4CC2-7E0B6680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081A8-1C74-255A-F9BE-EAFABE17D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BE286-9460-03D7-19A4-BC7194173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91599-014D-F72A-05B0-AC51BE1B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1C59B-8B18-00FA-B6EC-B1588AC3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B1697-0048-BD3A-B245-199208C7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7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DA71-C9DE-EC6D-425F-8B87DEE95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08F19-EB7A-21AC-4B53-7587F3EC4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397BE-5B1F-FDBB-9BDC-CC1F1FBA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8A736-BB56-0001-E4C4-E179C027E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BC0CA-A9D9-F3BA-4C56-4267F6A6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2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3FD99-F22E-92E7-9644-C51041E174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180BB-67A4-6F2B-469A-8A6A39EC8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011F3-3586-4AC1-8B0D-5E5517FE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FCCB8-EB9E-FCE2-74EA-8C2708CED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E6850-F169-27A1-8B54-4FD60F13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4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B590B3-842A-CDEC-7F0D-50E62ECB0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12B84-ED11-2C6B-171A-4CB68F92D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247A2-7DB8-5B7B-9886-AD6C40D2C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472AC-6C3F-44CE-AC8F-032703BC0FC8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CC932-4D87-6C2B-5899-7AE97D160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855D-3E08-BB4C-D9B9-C0BAB21AC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91922-73FF-4D5A-97D4-361D7E990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9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2D5A6-92C4-8021-E154-CCFAE3F63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303867" y="-706437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Introduction to </a:t>
            </a:r>
            <a:r>
              <a:rPr lang="en-US" dirty="0" err="1"/>
              <a:t>ggPlot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ED5778-0F1E-B47C-2A92-FBED9B701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56267" y="853282"/>
            <a:ext cx="9144000" cy="165576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Alex Alon</a:t>
            </a:r>
          </a:p>
        </p:txBody>
      </p:sp>
      <p:sp>
        <p:nvSpPr>
          <p:cNvPr id="4" name="AutoShape 2" descr="Watch Bob Ross: The Joy of Painting | Prime Video">
            <a:extLst>
              <a:ext uri="{FF2B5EF4-FFF2-40B4-BE49-F238E27FC236}">
                <a16:creationId xmlns:a16="http://schemas.microsoft.com/office/drawing/2014/main" id="{B00A5D6F-B30A-CD49-230F-DA26568949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6" name="Picture 10" descr="Bob Ross painting. : r/InsiderMemeTrading">
            <a:extLst>
              <a:ext uri="{FF2B5EF4-FFF2-40B4-BE49-F238E27FC236}">
                <a16:creationId xmlns:a16="http://schemas.microsoft.com/office/drawing/2014/main" id="{40B9EAAA-5AB0-80FD-E6B7-BCAA2A2CD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00" y="1624982"/>
            <a:ext cx="7264400" cy="5233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idgeline Plots in R (3 Examples) | Introduction to ggridges Package">
            <a:extLst>
              <a:ext uri="{FF2B5EF4-FFF2-40B4-BE49-F238E27FC236}">
                <a16:creationId xmlns:a16="http://schemas.microsoft.com/office/drawing/2014/main" id="{FCA3DE35-D35B-C5E8-DBA6-3E1D49F4F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emen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260" y="2078480"/>
            <a:ext cx="2812940" cy="24376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noFill/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perspectiveLeft">
              <a:rot lat="21299999" lon="2100000" rev="0"/>
            </a:camera>
            <a:lightRig rig="twoPt" dir="t">
              <a:rot lat="0" lon="0" rev="7200000"/>
            </a:lightRig>
          </a:scene3d>
          <a:sp3d contourW="12700">
            <a:bevelT w="25400" h="19050" prst="relaxedInset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F7CFF2-96BE-01E3-C954-951F2E4EEE51}"/>
              </a:ext>
            </a:extLst>
          </p:cNvPr>
          <p:cNvSpPr txBox="1"/>
          <p:nvPr/>
        </p:nvSpPr>
        <p:spPr>
          <a:xfrm>
            <a:off x="-953501" y="2512489"/>
            <a:ext cx="68241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i="0" dirty="0">
                <a:solidFill>
                  <a:sysClr val="windowText" lastClr="000000"/>
                </a:solidFill>
                <a:effectLst/>
                <a:latin typeface="Roboto" panose="02000000000000000000" pitchFamily="2" charset="0"/>
              </a:rPr>
              <a:t>“You too can </a:t>
            </a:r>
            <a:r>
              <a:rPr lang="en-US" sz="2000" b="1" dirty="0">
                <a:solidFill>
                  <a:sysClr val="windowText" lastClr="000000"/>
                </a:solidFill>
                <a:latin typeface="Roboto" panose="02000000000000000000" pitchFamily="2" charset="0"/>
              </a:rPr>
              <a:t>code</a:t>
            </a:r>
            <a:r>
              <a:rPr lang="en-US" sz="2000" b="1" i="0" dirty="0">
                <a:solidFill>
                  <a:sysClr val="windowText" lastClr="000000"/>
                </a:solidFill>
                <a:effectLst/>
                <a:latin typeface="Roboto" panose="02000000000000000000" pitchFamily="2" charset="0"/>
              </a:rPr>
              <a:t> almighty graphs.”</a:t>
            </a:r>
          </a:p>
          <a:p>
            <a:pPr algn="ctr"/>
            <a:endParaRPr lang="en-US" sz="2400" b="1" dirty="0">
              <a:solidFill>
                <a:sysClr val="windowText" lastClr="000000"/>
              </a:solidFill>
              <a:latin typeface="Roboto" panose="02000000000000000000" pitchFamily="2" charset="0"/>
            </a:endParaRPr>
          </a:p>
          <a:p>
            <a:pPr algn="ctr"/>
            <a:r>
              <a:rPr lang="en-US" sz="2400" b="1" i="0" dirty="0">
                <a:solidFill>
                  <a:srgbClr val="333333"/>
                </a:solidFill>
                <a:effectLst/>
                <a:latin typeface="proxima-nova"/>
              </a:rPr>
              <a:t>"We don't make mistakes, </a:t>
            </a:r>
          </a:p>
          <a:p>
            <a:pPr algn="ctr"/>
            <a:r>
              <a:rPr lang="en-US" sz="2400" b="1" i="0" dirty="0">
                <a:solidFill>
                  <a:srgbClr val="333333"/>
                </a:solidFill>
                <a:effectLst/>
                <a:latin typeface="proxima-nova"/>
              </a:rPr>
              <a:t>just happy little typing errors.“</a:t>
            </a:r>
          </a:p>
          <a:p>
            <a:pPr algn="ctr"/>
            <a:endParaRPr lang="en-US" sz="2400" b="1" dirty="0">
              <a:solidFill>
                <a:srgbClr val="333333"/>
              </a:solidFill>
              <a:latin typeface="proxima-nova"/>
            </a:endParaRPr>
          </a:p>
          <a:p>
            <a:pPr algn="ctr"/>
            <a:r>
              <a:rPr lang="en-US" sz="2400" b="1" i="1" dirty="0">
                <a:solidFill>
                  <a:srgbClr val="333333"/>
                </a:solidFill>
                <a:latin typeface="proxima-nova"/>
              </a:rPr>
              <a:t>-</a:t>
            </a:r>
            <a:r>
              <a:rPr lang="en-US" sz="2400" b="1" i="1" dirty="0" err="1">
                <a:solidFill>
                  <a:srgbClr val="333333"/>
                </a:solidFill>
                <a:latin typeface="proxima-nova"/>
              </a:rPr>
              <a:t>ggplot</a:t>
            </a:r>
            <a:endParaRPr lang="en-US" sz="2400" b="1" i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612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rylic Paint Splatter Techniques I Nova Color">
            <a:extLst>
              <a:ext uri="{FF2B5EF4-FFF2-40B4-BE49-F238E27FC236}">
                <a16:creationId xmlns:a16="http://schemas.microsoft.com/office/drawing/2014/main" id="{C5AA25D8-8CD8-715A-C50C-016514223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6258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67A0D9-C5F7-5EE8-4A91-74B47B73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Agenda and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35ABA-5DA1-0B6D-1F30-3996F72C8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275" y="1649195"/>
            <a:ext cx="10515600" cy="3141011"/>
          </a:xfrm>
          <a:solidFill>
            <a:schemeClr val="bg1"/>
          </a:solidFill>
        </p:spPr>
        <p:txBody>
          <a:bodyPr numCol="2">
            <a:normAutofit/>
          </a:bodyPr>
          <a:lstStyle/>
          <a:p>
            <a:pPr marL="0" indent="0" algn="ctr">
              <a:buNone/>
            </a:pPr>
            <a:r>
              <a:rPr lang="en-US" b="1" u="sng" dirty="0"/>
              <a:t>Monday</a:t>
            </a:r>
          </a:p>
          <a:p>
            <a:pPr algn="ctr"/>
            <a:r>
              <a:rPr lang="en-US" dirty="0"/>
              <a:t>Core Components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b="1" u="sng" dirty="0"/>
              <a:t>Wednesday</a:t>
            </a:r>
          </a:p>
          <a:p>
            <a:pPr algn="ctr"/>
            <a:r>
              <a:rPr lang="en-US" dirty="0"/>
              <a:t>Building a graph from scratch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267458-03C7-9075-DCC9-1F28E1532110}"/>
              </a:ext>
            </a:extLst>
          </p:cNvPr>
          <p:cNvSpPr txBox="1">
            <a:spLocks/>
          </p:cNvSpPr>
          <p:nvPr/>
        </p:nvSpPr>
        <p:spPr>
          <a:xfrm>
            <a:off x="838200" y="3219701"/>
            <a:ext cx="10620676" cy="314101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4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Our objective is to:</a:t>
            </a:r>
            <a:r>
              <a:rPr lang="en-US" sz="24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1. Promote tidy data and clean code</a:t>
            </a:r>
          </a:p>
          <a:p>
            <a:pPr marL="0" indent="0" algn="ctr">
              <a:buNone/>
            </a:pPr>
            <a:r>
              <a:rPr lang="en-US" sz="2400" dirty="0"/>
              <a:t>2. Gain familiarity with the components that make up </a:t>
            </a:r>
            <a:r>
              <a:rPr lang="en-US" sz="2400" dirty="0" err="1"/>
              <a:t>ggPlot</a:t>
            </a:r>
            <a:r>
              <a:rPr lang="en-US" sz="2400" dirty="0"/>
              <a:t> graphs</a:t>
            </a:r>
          </a:p>
          <a:p>
            <a:pPr marL="0" indent="0" algn="ctr">
              <a:buNone/>
            </a:pPr>
            <a:r>
              <a:rPr lang="en-US" sz="2400" dirty="0"/>
              <a:t>3. Develop confidence and competence in generating accurate and beautiful graphs</a:t>
            </a:r>
          </a:p>
          <a:p>
            <a:pPr marL="0" indent="0" algn="ctr">
              <a:buNone/>
            </a:pPr>
            <a:r>
              <a:rPr lang="en-US" sz="2400" dirty="0"/>
              <a:t>4. Foster exploration of </a:t>
            </a:r>
            <a:r>
              <a:rPr lang="en-US" sz="2400" dirty="0" err="1"/>
              <a:t>ggPlot</a:t>
            </a:r>
            <a:r>
              <a:rPr lang="en-US" sz="2400" dirty="0"/>
              <a:t> extensions and available resources</a:t>
            </a:r>
          </a:p>
          <a:p>
            <a:pPr lvl="1"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704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BEEEDE-702A-9E99-020F-723C74DDD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64" t="21354" r="17599" b="14720"/>
          <a:stretch/>
        </p:blipFill>
        <p:spPr>
          <a:xfrm>
            <a:off x="4716236" y="1140510"/>
            <a:ext cx="6296189" cy="5269706"/>
          </a:xfrm>
          <a:prstGeom prst="rect">
            <a:avLst/>
          </a:prstGeom>
          <a:noFill/>
        </p:spPr>
      </p:pic>
      <p:sp>
        <p:nvSpPr>
          <p:cNvPr id="15" name="Cloud 14">
            <a:extLst>
              <a:ext uri="{FF2B5EF4-FFF2-40B4-BE49-F238E27FC236}">
                <a16:creationId xmlns:a16="http://schemas.microsoft.com/office/drawing/2014/main" id="{C6E4E750-E8A9-98BB-B5F5-031469C9864F}"/>
              </a:ext>
            </a:extLst>
          </p:cNvPr>
          <p:cNvSpPr/>
          <p:nvPr/>
        </p:nvSpPr>
        <p:spPr>
          <a:xfrm>
            <a:off x="10111839" y="1920003"/>
            <a:ext cx="2080161" cy="1179440"/>
          </a:xfrm>
          <a:prstGeom prst="clou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03CD26-5E95-E769-AD0A-DBD3C04E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5826"/>
            <a:ext cx="10515600" cy="1325563"/>
          </a:xfrm>
        </p:spPr>
        <p:txBody>
          <a:bodyPr/>
          <a:lstStyle/>
          <a:p>
            <a:r>
              <a:rPr lang="en-US" dirty="0"/>
              <a:t>You get the data, now what?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19ABD-FF04-8139-DD61-3522C5A251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354" r="68712" b="6459"/>
          <a:stretch/>
        </p:blipFill>
        <p:spPr>
          <a:xfrm>
            <a:off x="0" y="907257"/>
            <a:ext cx="4126675" cy="5950743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8CE11A-CCC4-973A-8F9E-79F42FAD3A3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126675" y="3882629"/>
            <a:ext cx="74814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4" descr="Taste of Fear (1961) [Scream of Fear] - Seth Holt - film review">
            <a:extLst>
              <a:ext uri="{FF2B5EF4-FFF2-40B4-BE49-F238E27FC236}">
                <a16:creationId xmlns:a16="http://schemas.microsoft.com/office/drawing/2014/main" id="{E457EC93-8AA9-015C-B629-C45FBC5C0D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Image result for indiana jones eyes melting">
            <a:extLst>
              <a:ext uri="{FF2B5EF4-FFF2-40B4-BE49-F238E27FC236}">
                <a16:creationId xmlns:a16="http://schemas.microsoft.com/office/drawing/2014/main" id="{793DB4AD-1400-2BDA-B3DF-46CC06A282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9" t="12528" r="6492" b="9901"/>
          <a:stretch/>
        </p:blipFill>
        <p:spPr bwMode="auto">
          <a:xfrm>
            <a:off x="9711203" y="3131096"/>
            <a:ext cx="2480797" cy="138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CA7712-743B-D8B0-8AC7-64E1E3BBBC0A}"/>
              </a:ext>
            </a:extLst>
          </p:cNvPr>
          <p:cNvSpPr txBox="1"/>
          <p:nvPr/>
        </p:nvSpPr>
        <p:spPr>
          <a:xfrm>
            <a:off x="10325576" y="2142907"/>
            <a:ext cx="1632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the hell is even that?!</a:t>
            </a:r>
          </a:p>
        </p:txBody>
      </p:sp>
      <p:pic>
        <p:nvPicPr>
          <p:cNvPr id="17" name="Picture 16" descr="A person and person in a lab&#10;&#10;Description automatically generated">
            <a:extLst>
              <a:ext uri="{FF2B5EF4-FFF2-40B4-BE49-F238E27FC236}">
                <a16:creationId xmlns:a16="http://schemas.microsoft.com/office/drawing/2014/main" id="{BBDB7654-D1BF-2856-3D27-BCFE18992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88" y="860845"/>
            <a:ext cx="4029043" cy="604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11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4" grpId="0"/>
      <p:bldP spid="1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4DF053-FCEE-3B52-B93E-F21428344D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19" t="32840" r="31250" b="31319"/>
          <a:stretch/>
        </p:blipFill>
        <p:spPr>
          <a:xfrm>
            <a:off x="0" y="1509713"/>
            <a:ext cx="5406860" cy="32707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BC6FD5-251B-A668-DDF5-D4B798535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Plotting with R </a:t>
            </a:r>
            <a:r>
              <a:rPr lang="en-US" b="1" dirty="0"/>
              <a:t>(Code chunk #1)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06D97D-D6DE-97FC-A5B2-B7B845BCC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90688"/>
            <a:ext cx="12192000" cy="457200"/>
          </a:xfrm>
          <a:prstGeom prst="rect">
            <a:avLst/>
          </a:prstGeom>
          <a:solidFill>
            <a:srgbClr val="11192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plot(c(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),c(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BE1FF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7F8FB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BA961E-CF0F-00B7-C193-577DEE0681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861" t="38272" r="31404" b="29780"/>
          <a:stretch/>
        </p:blipFill>
        <p:spPr>
          <a:xfrm>
            <a:off x="5190067" y="3248501"/>
            <a:ext cx="7001933" cy="36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9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itHub - erikgahner/awesome-ggplot2: A curated list of awesome ggplot2  tutorials, packages etc.">
            <a:extLst>
              <a:ext uri="{FF2B5EF4-FFF2-40B4-BE49-F238E27FC236}">
                <a16:creationId xmlns:a16="http://schemas.microsoft.com/office/drawing/2014/main" id="{C6AC428F-5B05-FD59-05A6-503A27DA8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464"/>
            <a:ext cx="2764124" cy="319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4" descr="A Comprehensive Guide on ggplot2 in R - Analytics Vidhya">
            <a:extLst>
              <a:ext uri="{FF2B5EF4-FFF2-40B4-BE49-F238E27FC236}">
                <a16:creationId xmlns:a16="http://schemas.microsoft.com/office/drawing/2014/main" id="{FD1A6372-A5BD-055D-3977-49030F0F49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6" descr="A Comprehensive Guide on ggplot2 in R - Analytics Vidhya">
            <a:extLst>
              <a:ext uri="{FF2B5EF4-FFF2-40B4-BE49-F238E27FC236}">
                <a16:creationId xmlns:a16="http://schemas.microsoft.com/office/drawing/2014/main" id="{C9A1D346-DC7C-7C03-02F3-1B3D64730C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8" descr="ggplot2 in R">
            <a:extLst>
              <a:ext uri="{FF2B5EF4-FFF2-40B4-BE49-F238E27FC236}">
                <a16:creationId xmlns:a16="http://schemas.microsoft.com/office/drawing/2014/main" id="{7ED313F7-2993-17A0-A509-865A0C550F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83C3D2-6158-E8E8-4313-45899FEBEA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074" t="25555" r="24537" b="18395"/>
          <a:stretch/>
        </p:blipFill>
        <p:spPr>
          <a:xfrm>
            <a:off x="3268133" y="1397000"/>
            <a:ext cx="7303115" cy="4978400"/>
          </a:xfrm>
          <a:prstGeom prst="rect">
            <a:avLst/>
          </a:prstGeom>
        </p:spPr>
      </p:pic>
      <p:pic>
        <p:nvPicPr>
          <p:cNvPr id="21" name="Picture 20" descr="A black background with text and colorful squares&#10;&#10;Description automatically generated with medium confidence">
            <a:extLst>
              <a:ext uri="{FF2B5EF4-FFF2-40B4-BE49-F238E27FC236}">
                <a16:creationId xmlns:a16="http://schemas.microsoft.com/office/drawing/2014/main" id="{AAA26917-95FE-69B5-C9C7-34333A3D9F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2" b="5556"/>
          <a:stretch/>
        </p:blipFill>
        <p:spPr>
          <a:xfrm>
            <a:off x="2764124" y="1419535"/>
            <a:ext cx="9238636" cy="509693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3EDF353-DEF9-6C04-7BE0-F0E9B2F428E2}"/>
              </a:ext>
            </a:extLst>
          </p:cNvPr>
          <p:cNvSpPr txBox="1"/>
          <p:nvPr/>
        </p:nvSpPr>
        <p:spPr>
          <a:xfrm>
            <a:off x="8966201" y="159434"/>
            <a:ext cx="363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Thomas Lin Pedersen </a:t>
            </a:r>
          </a:p>
          <a:p>
            <a:pPr algn="ctr"/>
            <a:r>
              <a:rPr lang="en-US" dirty="0"/>
              <a:t>(AKA The GOAT of </a:t>
            </a:r>
            <a:r>
              <a:rPr lang="en-US" dirty="0" err="1"/>
              <a:t>ggPlot</a:t>
            </a:r>
            <a:r>
              <a:rPr lang="en-US" dirty="0"/>
              <a:t>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C509A5-E0F7-B03B-9B7C-7CBB77280829}"/>
              </a:ext>
            </a:extLst>
          </p:cNvPr>
          <p:cNvCxnSpPr>
            <a:stCxn id="22" idx="2"/>
          </p:cNvCxnSpPr>
          <p:nvPr/>
        </p:nvCxnSpPr>
        <p:spPr>
          <a:xfrm>
            <a:off x="10782301" y="805765"/>
            <a:ext cx="512232" cy="5912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View thomasp85's full-sized avatar">
            <a:extLst>
              <a:ext uri="{FF2B5EF4-FFF2-40B4-BE49-F238E27FC236}">
                <a16:creationId xmlns:a16="http://schemas.microsoft.com/office/drawing/2014/main" id="{D3F1860E-3E70-2399-A106-852C7C033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685" y="1419535"/>
            <a:ext cx="1370333" cy="1370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56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10E0F-00DE-ED64-0359-CB52D8CF0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500E-3FE4-C919-C503-EB1AB2689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06" y="14255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Tidy Data</a:t>
            </a:r>
          </a:p>
          <a:p>
            <a:pPr marL="0" indent="0">
              <a:buNone/>
            </a:pPr>
            <a:r>
              <a:rPr lang="en-US" dirty="0"/>
              <a:t>-each </a:t>
            </a:r>
            <a:r>
              <a:rPr lang="en-US" b="1" dirty="0"/>
              <a:t>unique</a:t>
            </a:r>
            <a:r>
              <a:rPr lang="en-US" dirty="0"/>
              <a:t> variable forms a column</a:t>
            </a:r>
          </a:p>
          <a:p>
            <a:pPr marL="0" indent="0">
              <a:buNone/>
            </a:pPr>
            <a:r>
              <a:rPr lang="en-US" dirty="0"/>
              <a:t>-each observation forms a row</a:t>
            </a:r>
          </a:p>
          <a:p>
            <a:pPr marL="0" indent="0">
              <a:buNone/>
            </a:pPr>
            <a:r>
              <a:rPr lang="en-US" dirty="0"/>
              <a:t>-each cell contains a single measurement</a:t>
            </a:r>
          </a:p>
          <a:p>
            <a:pPr marL="0" indent="0">
              <a:buNone/>
            </a:pPr>
            <a:r>
              <a:rPr lang="en-US" dirty="0"/>
              <a:t>-statistical analysis/data manipulation is done in R</a:t>
            </a:r>
          </a:p>
        </p:txBody>
      </p:sp>
      <p:pic>
        <p:nvPicPr>
          <p:cNvPr id="3074" name="Picture 2" descr="R for Data Science (2e) - 5 Data tidying">
            <a:extLst>
              <a:ext uri="{FF2B5EF4-FFF2-40B4-BE49-F238E27FC236}">
                <a16:creationId xmlns:a16="http://schemas.microsoft.com/office/drawing/2014/main" id="{BB58D612-DA0C-D04C-7DA5-51BF439F1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33164"/>
            <a:ext cx="5680440" cy="272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 for Data Science (2e) - 5 Data tidying">
            <a:extLst>
              <a:ext uri="{FF2B5EF4-FFF2-40B4-BE49-F238E27FC236}">
                <a16:creationId xmlns:a16="http://schemas.microsoft.com/office/drawing/2014/main" id="{FFDF6AEF-CE59-9A74-F99E-5A6834738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4441299"/>
            <a:ext cx="6391275" cy="241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DA1655-7909-6E69-42C3-D9F48C99B0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8923" t="44167" r="29254" b="19687"/>
          <a:stretch/>
        </p:blipFill>
        <p:spPr>
          <a:xfrm>
            <a:off x="6505575" y="186134"/>
            <a:ext cx="5686425" cy="247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96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1191E2-F139-62E4-CFFB-CCD47CA2C1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354" r="17599" b="6459"/>
          <a:stretch/>
        </p:blipFill>
        <p:spPr>
          <a:xfrm>
            <a:off x="0" y="271463"/>
            <a:ext cx="10868189" cy="595074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E4D73E-42E4-D6BA-1BE9-831F7AEE660A}"/>
              </a:ext>
            </a:extLst>
          </p:cNvPr>
          <p:cNvCxnSpPr/>
          <p:nvPr/>
        </p:nvCxnSpPr>
        <p:spPr>
          <a:xfrm>
            <a:off x="3679031" y="6043613"/>
            <a:ext cx="735807" cy="4286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A6D60C-0D69-839D-2B06-822020FB68DD}"/>
              </a:ext>
            </a:extLst>
          </p:cNvPr>
          <p:cNvSpPr txBox="1"/>
          <p:nvPr/>
        </p:nvSpPr>
        <p:spPr>
          <a:xfrm>
            <a:off x="4476997" y="6586537"/>
            <a:ext cx="2333502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Multiple Tabs of Analysis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692320-B497-173E-EA7F-8AED4AE09D47}"/>
              </a:ext>
            </a:extLst>
          </p:cNvPr>
          <p:cNvCxnSpPr/>
          <p:nvPr/>
        </p:nvCxnSpPr>
        <p:spPr>
          <a:xfrm>
            <a:off x="6390563" y="5378948"/>
            <a:ext cx="735807" cy="4286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E4C2D8-FD67-7CFF-DCCD-4345C3B5A7BF}"/>
              </a:ext>
            </a:extLst>
          </p:cNvPr>
          <p:cNvSpPr txBox="1"/>
          <p:nvPr/>
        </p:nvSpPr>
        <p:spPr>
          <a:xfrm>
            <a:off x="7126370" y="5681961"/>
            <a:ext cx="2333502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Graph made on spreadsheet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8BF45F-9EAC-9D3A-8847-3262A393F85C}"/>
              </a:ext>
            </a:extLst>
          </p:cNvPr>
          <p:cNvCxnSpPr>
            <a:cxnSpLocks/>
          </p:cNvCxnSpPr>
          <p:nvPr/>
        </p:nvCxnSpPr>
        <p:spPr>
          <a:xfrm flipV="1">
            <a:off x="3914558" y="475013"/>
            <a:ext cx="746507" cy="341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626AA4-F01B-1ADB-2CD1-C9C13B81711A}"/>
              </a:ext>
            </a:extLst>
          </p:cNvPr>
          <p:cNvSpPr txBox="1"/>
          <p:nvPr/>
        </p:nvSpPr>
        <p:spPr>
          <a:xfrm>
            <a:off x="4476997" y="219350"/>
            <a:ext cx="2333502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Color coding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8F22C8-8E10-4BAD-6DE1-85FE42188A56}"/>
              </a:ext>
            </a:extLst>
          </p:cNvPr>
          <p:cNvCxnSpPr>
            <a:cxnSpLocks/>
          </p:cNvCxnSpPr>
          <p:nvPr/>
        </p:nvCxnSpPr>
        <p:spPr>
          <a:xfrm flipV="1">
            <a:off x="1032813" y="1793174"/>
            <a:ext cx="475353" cy="131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82A6C7-815B-A4DD-24EE-846A13416188}"/>
              </a:ext>
            </a:extLst>
          </p:cNvPr>
          <p:cNvSpPr txBox="1"/>
          <p:nvPr/>
        </p:nvSpPr>
        <p:spPr>
          <a:xfrm>
            <a:off x="1508166" y="1617077"/>
            <a:ext cx="2906672" cy="2539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50" b="1" dirty="0"/>
              <a:t>Rows have variables with repeating names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0CFDE-036F-7057-DB44-9CFBF60D10D8}"/>
              </a:ext>
            </a:extLst>
          </p:cNvPr>
          <p:cNvCxnSpPr>
            <a:cxnSpLocks/>
          </p:cNvCxnSpPr>
          <p:nvPr/>
        </p:nvCxnSpPr>
        <p:spPr>
          <a:xfrm flipH="1" flipV="1">
            <a:off x="1393371" y="273437"/>
            <a:ext cx="114795" cy="131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CC443A-0188-B620-F960-453871F0914F}"/>
              </a:ext>
            </a:extLst>
          </p:cNvPr>
          <p:cNvSpPr txBox="1"/>
          <p:nvPr/>
        </p:nvSpPr>
        <p:spPr>
          <a:xfrm>
            <a:off x="1393371" y="97340"/>
            <a:ext cx="2333502" cy="3077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Columns include values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C4A4A8-9CF3-228E-DB0A-780679679CFB}"/>
              </a:ext>
            </a:extLst>
          </p:cNvPr>
          <p:cNvCxnSpPr>
            <a:cxnSpLocks/>
          </p:cNvCxnSpPr>
          <p:nvPr/>
        </p:nvCxnSpPr>
        <p:spPr>
          <a:xfrm flipV="1">
            <a:off x="3914558" y="5605867"/>
            <a:ext cx="746507" cy="3414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F71DC3-29D9-5F3D-D690-E00E7336E38E}"/>
              </a:ext>
            </a:extLst>
          </p:cNvPr>
          <p:cNvSpPr txBox="1"/>
          <p:nvPr/>
        </p:nvSpPr>
        <p:spPr>
          <a:xfrm>
            <a:off x="4634687" y="5347181"/>
            <a:ext cx="2333502" cy="60016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b="1" dirty="0"/>
              <a:t>Statistics and data</a:t>
            </a:r>
          </a:p>
          <a:p>
            <a:r>
              <a:rPr lang="en-US" sz="1100" b="1" dirty="0"/>
              <a:t>Manipulation performed on data sheet</a:t>
            </a:r>
          </a:p>
        </p:txBody>
      </p:sp>
    </p:spTree>
    <p:extLst>
      <p:ext uri="{BB962C8B-B14F-4D97-AF65-F5344CB8AC3E}">
        <p14:creationId xmlns:p14="http://schemas.microsoft.com/office/powerpoint/2010/main" val="418767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6" grpId="0" animBg="1"/>
      <p:bldP spid="18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435655-B2D1-D696-C936-E0AFADEDCE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0" t="21875" r="32770" b="52235"/>
          <a:stretch/>
        </p:blipFill>
        <p:spPr>
          <a:xfrm>
            <a:off x="0" y="842245"/>
            <a:ext cx="9220200" cy="226671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DF221AA-D25D-EE40-3E47-ED813CB3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-2952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Is this tidy data?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E41117-1C6B-47E9-EA58-15126931ACB8}"/>
              </a:ext>
            </a:extLst>
          </p:cNvPr>
          <p:cNvSpPr txBox="1"/>
          <p:nvPr/>
        </p:nvSpPr>
        <p:spPr>
          <a:xfrm>
            <a:off x="10007598" y="1030288"/>
            <a:ext cx="21844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New column can be made of replicates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New column can be made of concentrations</a:t>
            </a:r>
          </a:p>
        </p:txBody>
      </p:sp>
    </p:spTree>
    <p:extLst>
      <p:ext uri="{BB962C8B-B14F-4D97-AF65-F5344CB8AC3E}">
        <p14:creationId xmlns:p14="http://schemas.microsoft.com/office/powerpoint/2010/main" val="96624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FA58C7-49BE-7879-35FB-C0168FCADD91}"/>
              </a:ext>
            </a:extLst>
          </p:cNvPr>
          <p:cNvCxnSpPr>
            <a:cxnSpLocks/>
          </p:cNvCxnSpPr>
          <p:nvPr/>
        </p:nvCxnSpPr>
        <p:spPr>
          <a:xfrm flipH="1" flipV="1">
            <a:off x="600910" y="930220"/>
            <a:ext cx="334922" cy="24184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4B4885-0C85-30F9-1148-261E2D7B58C7}"/>
              </a:ext>
            </a:extLst>
          </p:cNvPr>
          <p:cNvSpPr txBox="1"/>
          <p:nvPr/>
        </p:nvSpPr>
        <p:spPr>
          <a:xfrm>
            <a:off x="0" y="381256"/>
            <a:ext cx="2333502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Time made into column with values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523685-8958-BF0C-0566-30DE770AC68B}"/>
              </a:ext>
            </a:extLst>
          </p:cNvPr>
          <p:cNvCxnSpPr>
            <a:cxnSpLocks/>
          </p:cNvCxnSpPr>
          <p:nvPr/>
        </p:nvCxnSpPr>
        <p:spPr>
          <a:xfrm flipH="1" flipV="1">
            <a:off x="3237232" y="847523"/>
            <a:ext cx="225631" cy="2525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2E6DFB-5A53-CAE2-7ADB-F14ABFE2A2F7}"/>
              </a:ext>
            </a:extLst>
          </p:cNvPr>
          <p:cNvSpPr txBox="1"/>
          <p:nvPr/>
        </p:nvSpPr>
        <p:spPr>
          <a:xfrm>
            <a:off x="3175073" y="309296"/>
            <a:ext cx="2333502" cy="5232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Unique column variable names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1A74E2-AEB0-B077-5F78-F20308E9A1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1" t="21732" r="74117" b="53174"/>
          <a:stretch/>
        </p:blipFill>
        <p:spPr>
          <a:xfrm>
            <a:off x="792120" y="1172062"/>
            <a:ext cx="5798995" cy="3501538"/>
          </a:xfrm>
          <a:prstGeom prst="rect">
            <a:avLst/>
          </a:prstGeom>
        </p:spPr>
      </p:pic>
      <p:pic>
        <p:nvPicPr>
          <p:cNvPr id="5122" name="Picture 2" descr="What does the chef's kiss emoji mean? | The US Sun">
            <a:extLst>
              <a:ext uri="{FF2B5EF4-FFF2-40B4-BE49-F238E27FC236}">
                <a16:creationId xmlns:a16="http://schemas.microsoft.com/office/drawing/2014/main" id="{C491F6D9-0633-63F7-3731-45B8E4622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4034" y="1894586"/>
            <a:ext cx="4210050" cy="2357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55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99DB-95B9-05EE-4836-4EDB20399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Sets </a:t>
            </a:r>
            <a:r>
              <a:rPr lang="en-US" b="1" dirty="0"/>
              <a:t>(Code Chunk #2a and 2b)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39B6E-AE1A-30F6-1AC1-203D59B0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423737" cy="1078442"/>
          </a:xfrm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data()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?iris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FA2C53B1-221C-2347-934F-1ED82CB62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947" y="3291840"/>
            <a:ext cx="3566160" cy="356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EF75F86-3D29-67D2-EA7A-B2FE0926A4B8}"/>
              </a:ext>
            </a:extLst>
          </p:cNvPr>
          <p:cNvGrpSpPr/>
          <p:nvPr/>
        </p:nvGrpSpPr>
        <p:grpSpPr>
          <a:xfrm>
            <a:off x="6926479" y="2904067"/>
            <a:ext cx="5391150" cy="3953933"/>
            <a:chOff x="8587317" y="3858685"/>
            <a:chExt cx="3746500" cy="2999315"/>
          </a:xfrm>
        </p:grpSpPr>
        <p:pic>
          <p:nvPicPr>
            <p:cNvPr id="4100" name="Picture 4" descr="Is it possible to learn this power? : r/memes">
              <a:extLst>
                <a:ext uri="{FF2B5EF4-FFF2-40B4-BE49-F238E27FC236}">
                  <a16:creationId xmlns:a16="http://schemas.microsoft.com/office/drawing/2014/main" id="{97D75D6E-319D-39A4-BD32-12A40BEF73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509"/>
            <a:stretch/>
          </p:blipFill>
          <p:spPr bwMode="auto">
            <a:xfrm>
              <a:off x="8809567" y="4690534"/>
              <a:ext cx="3302000" cy="2167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22D99D-74C7-07E8-EF33-B03E89E05C1A}"/>
                </a:ext>
              </a:extLst>
            </p:cNvPr>
            <p:cNvSpPr txBox="1"/>
            <p:nvPr/>
          </p:nvSpPr>
          <p:spPr>
            <a:xfrm>
              <a:off x="8587317" y="3858685"/>
              <a:ext cx="3746500" cy="910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When you can make tidy data, access all the R data sets, and still not know how to graph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665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29DE1-297B-DA6D-4FA5-61183FC1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983" y="61710"/>
            <a:ext cx="10515600" cy="1325563"/>
          </a:xfrm>
        </p:spPr>
        <p:txBody>
          <a:bodyPr/>
          <a:lstStyle/>
          <a:p>
            <a:r>
              <a:rPr lang="en-US" dirty="0"/>
              <a:t>Aesthetics</a:t>
            </a:r>
            <a:br>
              <a:rPr lang="en-US" dirty="0"/>
            </a:br>
            <a:r>
              <a:rPr lang="en-US" dirty="0"/>
              <a:t>(</a:t>
            </a:r>
            <a:r>
              <a:rPr lang="en-US" b="1" dirty="0"/>
              <a:t>Code </a:t>
            </a:r>
            <a:r>
              <a:rPr lang="en-US" b="1"/>
              <a:t>Chunk 3 and 3b)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F0050-4939-D5A7-DE35-5EF2819E3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114" y="2469397"/>
            <a:ext cx="2759242" cy="890743"/>
          </a:xfr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iris %&gt;%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chemeClr val="bg1"/>
                </a:solidFill>
              </a:rPr>
              <a:t>ggplot</a:t>
            </a:r>
            <a:r>
              <a:rPr lang="en-US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21DFB96-251F-C181-CC0E-CA5A200A981E}"/>
              </a:ext>
            </a:extLst>
          </p:cNvPr>
          <p:cNvSpPr txBox="1">
            <a:spLocks/>
          </p:cNvSpPr>
          <p:nvPr/>
        </p:nvSpPr>
        <p:spPr>
          <a:xfrm>
            <a:off x="2226733" y="-261455"/>
            <a:ext cx="127084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/Mapping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BD3706-9D70-16B1-746A-5C2A764BB15E}"/>
              </a:ext>
            </a:extLst>
          </p:cNvPr>
          <p:cNvSpPr txBox="1"/>
          <p:nvPr/>
        </p:nvSpPr>
        <p:spPr>
          <a:xfrm>
            <a:off x="216072" y="3360140"/>
            <a:ext cx="5527602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iris %&gt;% </a:t>
            </a:r>
          </a:p>
          <a:p>
            <a:r>
              <a:rPr lang="en-US" b="1" dirty="0">
                <a:solidFill>
                  <a:schemeClr val="bg1"/>
                </a:solidFill>
              </a:rPr>
              <a:t>	</a:t>
            </a:r>
            <a:r>
              <a:rPr lang="en-US" b="1" dirty="0" err="1">
                <a:solidFill>
                  <a:schemeClr val="bg1"/>
                </a:solidFill>
              </a:rPr>
              <a:t>ggplot</a:t>
            </a:r>
            <a:r>
              <a:rPr lang="en-US" b="1" dirty="0">
                <a:solidFill>
                  <a:schemeClr val="bg1"/>
                </a:solidFill>
              </a:rPr>
              <a:t>(</a:t>
            </a:r>
            <a:r>
              <a:rPr lang="en-US" b="1" dirty="0" err="1">
                <a:solidFill>
                  <a:schemeClr val="bg1"/>
                </a:solidFill>
              </a:rPr>
              <a:t>aes</a:t>
            </a:r>
            <a:r>
              <a:rPr lang="en-US" b="1" dirty="0">
                <a:solidFill>
                  <a:schemeClr val="bg1"/>
                </a:solidFill>
              </a:rPr>
              <a:t>(x = </a:t>
            </a:r>
            <a:r>
              <a:rPr lang="en-US" b="1" dirty="0" err="1">
                <a:solidFill>
                  <a:schemeClr val="bg1"/>
                </a:solidFill>
              </a:rPr>
              <a:t>Sepal.Length</a:t>
            </a:r>
            <a:r>
              <a:rPr lang="en-US" b="1" dirty="0">
                <a:solidFill>
                  <a:schemeClr val="bg1"/>
                </a:solidFill>
              </a:rPr>
              <a:t>, y = </a:t>
            </a:r>
            <a:r>
              <a:rPr lang="en-US" b="1" dirty="0" err="1">
                <a:solidFill>
                  <a:schemeClr val="bg1"/>
                </a:solidFill>
              </a:rPr>
              <a:t>Sepal.Width</a:t>
            </a:r>
            <a:r>
              <a:rPr lang="en-US" b="1" dirty="0">
                <a:solidFill>
                  <a:schemeClr val="bg1"/>
                </a:solidFill>
              </a:rPr>
              <a:t>))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30A9D4-DA42-A43A-BAC5-CB543DE6F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21" t="35008" r="32176" b="23209"/>
          <a:stretch/>
        </p:blipFill>
        <p:spPr>
          <a:xfrm>
            <a:off x="5946177" y="1609392"/>
            <a:ext cx="5904623" cy="4004733"/>
          </a:xfrm>
          <a:prstGeom prst="rect">
            <a:avLst/>
          </a:prstGeom>
        </p:spPr>
      </p:pic>
      <p:pic>
        <p:nvPicPr>
          <p:cNvPr id="7172" name="Picture 4" descr="I can't see anything - Futurama Fry Meme Generator">
            <a:extLst>
              <a:ext uri="{FF2B5EF4-FFF2-40B4-BE49-F238E27FC236}">
                <a16:creationId xmlns:a16="http://schemas.microsoft.com/office/drawing/2014/main" id="{C74FF11E-8228-B1D9-510F-905328E65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254" y="1973458"/>
            <a:ext cx="3706053" cy="277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86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9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3F65-1FDF-DC34-6C3F-380C04D6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4542"/>
            <a:ext cx="10515600" cy="1325563"/>
          </a:xfrm>
        </p:spPr>
        <p:txBody>
          <a:bodyPr/>
          <a:lstStyle/>
          <a:p>
            <a:r>
              <a:rPr lang="en-US" dirty="0"/>
              <a:t>Geometries </a:t>
            </a:r>
            <a:r>
              <a:rPr lang="en-US" sz="4000" b="1" dirty="0"/>
              <a:t>Code Chunk 4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44A47-74C4-4521-5320-A4786E9D1D09}"/>
              </a:ext>
            </a:extLst>
          </p:cNvPr>
          <p:cNvSpPr txBox="1"/>
          <p:nvPr/>
        </p:nvSpPr>
        <p:spPr>
          <a:xfrm>
            <a:off x="5799667" y="5825067"/>
            <a:ext cx="60960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iris %&gt;% </a:t>
            </a:r>
          </a:p>
          <a:p>
            <a:r>
              <a:rPr lang="en-US" b="1" dirty="0"/>
              <a:t>	</a:t>
            </a:r>
            <a:r>
              <a:rPr lang="en-US" b="1" dirty="0" err="1"/>
              <a:t>ggplot</a:t>
            </a:r>
            <a:r>
              <a:rPr lang="en-US" b="1" dirty="0"/>
              <a:t>(</a:t>
            </a:r>
            <a:r>
              <a:rPr lang="en-US" b="1" dirty="0" err="1"/>
              <a:t>aes</a:t>
            </a:r>
            <a:r>
              <a:rPr lang="en-US" b="1" dirty="0"/>
              <a:t>(x = </a:t>
            </a:r>
            <a:r>
              <a:rPr lang="en-US" b="1" dirty="0" err="1"/>
              <a:t>Sepal.Length</a:t>
            </a:r>
            <a:r>
              <a:rPr lang="en-US" b="1" dirty="0"/>
              <a:t>, y = </a:t>
            </a:r>
            <a:r>
              <a:rPr lang="en-US" b="1" dirty="0" err="1"/>
              <a:t>Sepal.Width</a:t>
            </a:r>
            <a:r>
              <a:rPr lang="en-US" b="1" dirty="0"/>
              <a:t>)) + 	</a:t>
            </a:r>
            <a:r>
              <a:rPr lang="en-US" b="1" dirty="0" err="1"/>
              <a:t>geom_point</a:t>
            </a:r>
            <a:r>
              <a:rPr lang="en-US" b="1" dirty="0"/>
              <a:t>()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615671-C7FE-23CB-2D8C-0B4BAE3A4C7A}"/>
              </a:ext>
            </a:extLst>
          </p:cNvPr>
          <p:cNvSpPr txBox="1"/>
          <p:nvPr/>
        </p:nvSpPr>
        <p:spPr>
          <a:xfrm>
            <a:off x="5503334" y="4213291"/>
            <a:ext cx="668866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b="1" dirty="0" err="1"/>
              <a:t>ggplot</a:t>
            </a:r>
            <a:r>
              <a:rPr lang="en-US" b="1" dirty="0"/>
              <a:t>(data=iris) +</a:t>
            </a:r>
          </a:p>
          <a:p>
            <a:r>
              <a:rPr lang="en-US" b="1" dirty="0"/>
              <a:t>	mapping=</a:t>
            </a:r>
            <a:r>
              <a:rPr lang="en-US" b="1" dirty="0" err="1"/>
              <a:t>aes</a:t>
            </a:r>
            <a:r>
              <a:rPr lang="en-US" b="1" dirty="0"/>
              <a:t>(x = </a:t>
            </a:r>
            <a:r>
              <a:rPr lang="en-US" b="1" dirty="0" err="1"/>
              <a:t>Sepal.Length</a:t>
            </a:r>
            <a:r>
              <a:rPr lang="en-US" b="1" dirty="0"/>
              <a:t>, y = </a:t>
            </a:r>
            <a:r>
              <a:rPr lang="en-US" b="1" dirty="0" err="1"/>
              <a:t>Sepal.Width</a:t>
            </a:r>
            <a:r>
              <a:rPr lang="en-US" b="1" dirty="0"/>
              <a:t>)) + 	</a:t>
            </a:r>
          </a:p>
          <a:p>
            <a:r>
              <a:rPr lang="en-US" b="1" dirty="0"/>
              <a:t>	</a:t>
            </a:r>
            <a:r>
              <a:rPr lang="en-US" b="1" dirty="0" err="1"/>
              <a:t>geom_point</a:t>
            </a:r>
            <a:r>
              <a:rPr lang="en-US" b="1" dirty="0"/>
              <a:t>()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131C03-9E90-6685-9C0F-5C7880FDCCD9}"/>
              </a:ext>
            </a:extLst>
          </p:cNvPr>
          <p:cNvCxnSpPr>
            <a:stCxn id="10" idx="2"/>
          </p:cNvCxnSpPr>
          <p:nvPr/>
        </p:nvCxnSpPr>
        <p:spPr>
          <a:xfrm>
            <a:off x="8847667" y="5136621"/>
            <a:ext cx="0" cy="6884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 descr="Dealing with color in ggplot2 | the R Graph Gallery">
            <a:extLst>
              <a:ext uri="{FF2B5EF4-FFF2-40B4-BE49-F238E27FC236}">
                <a16:creationId xmlns:a16="http://schemas.microsoft.com/office/drawing/2014/main" id="{8F55C85C-3334-C287-C700-E9F452771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151471"/>
            <a:ext cx="5002461" cy="570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harts • Simply explained - DATAtab">
            <a:extLst>
              <a:ext uri="{FF2B5EF4-FFF2-40B4-BE49-F238E27FC236}">
                <a16:creationId xmlns:a16="http://schemas.microsoft.com/office/drawing/2014/main" id="{75C89785-27AF-43B3-4175-2B997E39D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2325" y="80436"/>
            <a:ext cx="5467350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22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3BBEF67-8DDA-5842-DCB1-B1838BBD1D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18" t="15803" r="56096" b="29506"/>
          <a:stretch/>
        </p:blipFill>
        <p:spPr>
          <a:xfrm>
            <a:off x="6155266" y="1773827"/>
            <a:ext cx="6036735" cy="50841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DB1230-90A1-CACA-1E18-4B3BC63E83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9" t="16049" r="56097" b="30247"/>
          <a:stretch/>
        </p:blipFill>
        <p:spPr>
          <a:xfrm>
            <a:off x="0" y="1773828"/>
            <a:ext cx="6194508" cy="508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E3F65-1FDF-DC34-6C3F-380C04D6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4542"/>
            <a:ext cx="10515600" cy="1325563"/>
          </a:xfrm>
        </p:spPr>
        <p:txBody>
          <a:bodyPr/>
          <a:lstStyle/>
          <a:p>
            <a:r>
              <a:rPr lang="en-US" dirty="0"/>
              <a:t>Back to Aesthetics (</a:t>
            </a:r>
            <a:r>
              <a:rPr lang="en-US" b="1" dirty="0"/>
              <a:t>Code Chunk 5d)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57F762-2514-D12E-3FC4-74D580F064A5}"/>
              </a:ext>
            </a:extLst>
          </p:cNvPr>
          <p:cNvSpPr txBox="1"/>
          <p:nvPr/>
        </p:nvSpPr>
        <p:spPr>
          <a:xfrm>
            <a:off x="3259666" y="1113708"/>
            <a:ext cx="567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AESTHETICS CHANGE DEPENDING ON GEOMETRY</a:t>
            </a:r>
          </a:p>
          <a:p>
            <a:pPr algn="ctr"/>
            <a:r>
              <a:rPr lang="en-US" b="1" dirty="0"/>
              <a:t>GEOMETRY OVERRIDES MAPPING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01B967-EFC1-5643-44AA-667490B04618}"/>
              </a:ext>
            </a:extLst>
          </p:cNvPr>
          <p:cNvSpPr/>
          <p:nvPr/>
        </p:nvSpPr>
        <p:spPr>
          <a:xfrm>
            <a:off x="3124490" y="2066525"/>
            <a:ext cx="2922701" cy="257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BBBE33-7EA2-054C-B8F6-6D0429DDFF33}"/>
              </a:ext>
            </a:extLst>
          </p:cNvPr>
          <p:cNvSpPr/>
          <p:nvPr/>
        </p:nvSpPr>
        <p:spPr>
          <a:xfrm>
            <a:off x="7599569" y="2239680"/>
            <a:ext cx="2526564" cy="1753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9C4A12-2D0F-334E-2919-6E551B04F67B}"/>
              </a:ext>
            </a:extLst>
          </p:cNvPr>
          <p:cNvSpPr/>
          <p:nvPr/>
        </p:nvSpPr>
        <p:spPr>
          <a:xfrm>
            <a:off x="9207500" y="2051872"/>
            <a:ext cx="2899833" cy="187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1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4.9 Multiple geoms, multiple aes() | R for Health Data Science">
            <a:extLst>
              <a:ext uri="{FF2B5EF4-FFF2-40B4-BE49-F238E27FC236}">
                <a16:creationId xmlns:a16="http://schemas.microsoft.com/office/drawing/2014/main" id="{DF29B50D-20FC-C007-5CBC-121429D715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054" b="49315"/>
          <a:stretch/>
        </p:blipFill>
        <p:spPr bwMode="auto">
          <a:xfrm>
            <a:off x="5394476" y="1613800"/>
            <a:ext cx="6738257" cy="317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147E19-67B7-C0ED-5A58-43323D7E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268" y="-151342"/>
            <a:ext cx="1225126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More Geometries, Multiple Geometries (</a:t>
            </a:r>
            <a:r>
              <a:rPr lang="en-US" sz="4000" b="1" dirty="0"/>
              <a:t>Code Chunk 7)</a:t>
            </a:r>
            <a:endParaRPr lang="en-US" sz="4000" dirty="0"/>
          </a:p>
        </p:txBody>
      </p:sp>
      <p:pic>
        <p:nvPicPr>
          <p:cNvPr id="10242" name="Picture 2" descr="Woody and Buzz Lightyear Everywhere Widescreen Meme Generator - Imgflip">
            <a:extLst>
              <a:ext uri="{FF2B5EF4-FFF2-40B4-BE49-F238E27FC236}">
                <a16:creationId xmlns:a16="http://schemas.microsoft.com/office/drawing/2014/main" id="{5495D0FA-88D4-809A-7E9F-62F0DA659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24867"/>
            <a:ext cx="4680471" cy="2631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040C6B-8A0F-BB57-40B4-13CF6A06495C}"/>
              </a:ext>
            </a:extLst>
          </p:cNvPr>
          <p:cNvSpPr txBox="1"/>
          <p:nvPr/>
        </p:nvSpPr>
        <p:spPr>
          <a:xfrm>
            <a:off x="2108200" y="2773803"/>
            <a:ext cx="3090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Reviewer #3:</a:t>
            </a:r>
          </a:p>
          <a:p>
            <a:r>
              <a:rPr lang="en-US" b="1" dirty="0"/>
              <a:t>These boxplots are great, but I want to see the actual data points overlap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71960184-4F90-0B44-0E37-8CE4C514166C}"/>
              </a:ext>
            </a:extLst>
          </p:cNvPr>
          <p:cNvSpPr/>
          <p:nvPr/>
        </p:nvSpPr>
        <p:spPr>
          <a:xfrm>
            <a:off x="1490133" y="2438401"/>
            <a:ext cx="4207934" cy="2129896"/>
          </a:xfrm>
          <a:prstGeom prst="clou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90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834A-D73E-0745-EFCE-8D557A36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6170"/>
            <a:ext cx="10515600" cy="1325563"/>
          </a:xfrm>
        </p:spPr>
        <p:txBody>
          <a:bodyPr/>
          <a:lstStyle/>
          <a:p>
            <a:r>
              <a:rPr lang="en-US" dirty="0"/>
              <a:t>Themes</a:t>
            </a:r>
          </a:p>
        </p:txBody>
      </p:sp>
      <p:pic>
        <p:nvPicPr>
          <p:cNvPr id="11266" name="Picture 2" descr="ggplot2 Themes in R (Example &amp; Gallery) | Default &amp; Custom Options">
            <a:extLst>
              <a:ext uri="{FF2B5EF4-FFF2-40B4-BE49-F238E27FC236}">
                <a16:creationId xmlns:a16="http://schemas.microsoft.com/office/drawing/2014/main" id="{EBA42D47-F6FB-4824-E79F-8BBB73FDA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875500"/>
            <a:ext cx="4597401" cy="443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0E944-F725-9519-7D81-80A6CFDD62F2}"/>
              </a:ext>
            </a:extLst>
          </p:cNvPr>
          <p:cNvSpPr txBox="1"/>
          <p:nvPr/>
        </p:nvSpPr>
        <p:spPr>
          <a:xfrm>
            <a:off x="6471130" y="1660042"/>
            <a:ext cx="7738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Try making your own theme!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CD86E-360A-867C-3D21-17CE851581C9}"/>
              </a:ext>
            </a:extLst>
          </p:cNvPr>
          <p:cNvSpPr txBox="1"/>
          <p:nvPr/>
        </p:nvSpPr>
        <p:spPr>
          <a:xfrm>
            <a:off x="1943100" y="221890"/>
            <a:ext cx="102488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+mj-lt"/>
              </a:rPr>
              <a:t>AKA the real aesthetics </a:t>
            </a:r>
            <a:r>
              <a:rPr lang="en-US" sz="4400" b="1" dirty="0">
                <a:latin typeface="+mj-lt"/>
              </a:rPr>
              <a:t>(Code Chunk 11)</a:t>
            </a:r>
            <a:endParaRPr lang="en-US" sz="4400" dirty="0">
              <a:latin typeface="+mj-lt"/>
            </a:endParaRPr>
          </a:p>
        </p:txBody>
      </p:sp>
      <p:pic>
        <p:nvPicPr>
          <p:cNvPr id="1026" name="Picture 2" descr="The Grammar of Graphics">
            <a:extLst>
              <a:ext uri="{FF2B5EF4-FFF2-40B4-BE49-F238E27FC236}">
                <a16:creationId xmlns:a16="http://schemas.microsoft.com/office/drawing/2014/main" id="{F6C8C7E8-6A48-B018-E0FA-E12CDCD84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980" y="4396613"/>
            <a:ext cx="2953664" cy="246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7F39FEF-6BA2-5D3D-BFB1-96ED18E36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419" y="2107949"/>
            <a:ext cx="4034581" cy="2241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B67C87-5907-31F7-9945-B73EC29DB0D5}"/>
              </a:ext>
            </a:extLst>
          </p:cNvPr>
          <p:cNvSpPr txBox="1"/>
          <p:nvPr/>
        </p:nvSpPr>
        <p:spPr>
          <a:xfrm>
            <a:off x="2630364" y="3887718"/>
            <a:ext cx="7738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/>
              <a:t>ggthemes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14678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CCFD9-F943-0858-1C1E-65E5E20049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405467" y="768615"/>
            <a:ext cx="9144000" cy="1655762"/>
          </a:xfrm>
        </p:spPr>
        <p:txBody>
          <a:bodyPr/>
          <a:lstStyle/>
          <a:p>
            <a:r>
              <a:rPr lang="en-US"/>
              <a:t>Alex Alon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8FAE41-9131-34E8-78A2-D6A717392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16467" y="-791104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Introduction to </a:t>
            </a:r>
            <a:r>
              <a:rPr lang="en-US" dirty="0" err="1"/>
              <a:t>ggPlot</a:t>
            </a:r>
            <a:r>
              <a:rPr lang="en-US" dirty="0"/>
              <a:t> Day 2</a:t>
            </a:r>
            <a:br>
              <a:rPr lang="en-US" dirty="0"/>
            </a:br>
            <a:endParaRPr lang="en-US" dirty="0"/>
          </a:p>
        </p:txBody>
      </p:sp>
      <p:pic>
        <p:nvPicPr>
          <p:cNvPr id="6150" name="Picture 6" descr="Deadpool' Delivered Hilarious Teaser Spoofing Bob Ross">
            <a:extLst>
              <a:ext uri="{FF2B5EF4-FFF2-40B4-BE49-F238E27FC236}">
                <a16:creationId xmlns:a16="http://schemas.microsoft.com/office/drawing/2014/main" id="{63686E91-6AC9-3856-97C3-94DE1556C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854" y="1159934"/>
            <a:ext cx="7167110" cy="569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A2F1BF6E-D52A-345E-857B-C92037AA5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2368">
            <a:off x="8949124" y="1470167"/>
            <a:ext cx="3296467" cy="4786731"/>
          </a:xfrm>
          <a:prstGeom prst="rect">
            <a:avLst/>
          </a:prstGeom>
          <a:noFill/>
          <a:scene3d>
            <a:camera prst="perspectiveLeft" fov="2700000">
              <a:rot lat="0" lon="900000" rev="15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E1EA81-40E8-C789-E3BC-40E337928C42}"/>
              </a:ext>
            </a:extLst>
          </p:cNvPr>
          <p:cNvSpPr txBox="1"/>
          <p:nvPr/>
        </p:nvSpPr>
        <p:spPr>
          <a:xfrm>
            <a:off x="0" y="2568310"/>
            <a:ext cx="49741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  <a:latin typeface="Google Sans"/>
              </a:rPr>
              <a:t>“</a:t>
            </a:r>
            <a:r>
              <a:rPr lang="en-US" sz="2400" b="1" i="0" dirty="0">
                <a:solidFill>
                  <a:sysClr val="windowText" lastClr="000000"/>
                </a:solidFill>
                <a:effectLst/>
                <a:latin typeface="Google Sans"/>
              </a:rPr>
              <a:t>Remember this is your graph; you get to make and break the data here</a:t>
            </a:r>
            <a:r>
              <a:rPr lang="en-US" sz="2400" b="1" dirty="0">
                <a:solidFill>
                  <a:sysClr val="windowText" lastClr="000000"/>
                </a:solidFill>
                <a:latin typeface="Google Sans"/>
              </a:rPr>
              <a:t>”</a:t>
            </a:r>
          </a:p>
          <a:p>
            <a:pPr algn="ctr"/>
            <a:endParaRPr lang="en-US" sz="2400" b="1" dirty="0">
              <a:solidFill>
                <a:sysClr val="windowText" lastClr="000000"/>
              </a:solidFill>
              <a:latin typeface="Google Sans"/>
            </a:endParaRPr>
          </a:p>
          <a:p>
            <a:pPr algn="ctr"/>
            <a:r>
              <a:rPr lang="en-US" sz="2400" b="1" i="1" dirty="0">
                <a:solidFill>
                  <a:sysClr val="windowText" lastClr="000000"/>
                </a:solidFill>
                <a:latin typeface="Google Sans"/>
              </a:rPr>
              <a:t>-</a:t>
            </a:r>
            <a:r>
              <a:rPr lang="en-US" sz="2400" b="1" i="1" dirty="0" err="1">
                <a:solidFill>
                  <a:sysClr val="windowText" lastClr="000000"/>
                </a:solidFill>
                <a:latin typeface="Google Sans"/>
              </a:rPr>
              <a:t>ggPlot</a:t>
            </a:r>
            <a:endParaRPr lang="en-US" sz="2400" b="1" i="1" dirty="0">
              <a:solidFill>
                <a:sysClr val="windowText" lastClr="000000"/>
              </a:solidFill>
              <a:latin typeface="Google Sans"/>
            </a:endParaRPr>
          </a:p>
          <a:p>
            <a:pPr algn="ctr"/>
            <a:r>
              <a:rPr lang="en-US" sz="2400" b="1" i="0" dirty="0">
                <a:solidFill>
                  <a:sysClr val="windowText" lastClr="000000"/>
                </a:solidFill>
                <a:effectLst/>
                <a:latin typeface="Google Sans"/>
              </a:rPr>
              <a:t> </a:t>
            </a:r>
            <a:endParaRPr lang="en-US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A8971-CCC4-4178-3DEF-EE5F0D09E37A}"/>
              </a:ext>
            </a:extLst>
          </p:cNvPr>
          <p:cNvSpPr txBox="1"/>
          <p:nvPr/>
        </p:nvSpPr>
        <p:spPr>
          <a:xfrm>
            <a:off x="389466" y="6211669"/>
            <a:ext cx="485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Don’t know how to use photoshop so here is Deadpool instead</a:t>
            </a:r>
          </a:p>
        </p:txBody>
      </p:sp>
    </p:spTree>
    <p:extLst>
      <p:ext uri="{BB962C8B-B14F-4D97-AF65-F5344CB8AC3E}">
        <p14:creationId xmlns:p14="http://schemas.microsoft.com/office/powerpoint/2010/main" val="3175939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AD4A8-12A5-C9C7-8036-2FE8B986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92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Building a Graph From Scratch</a:t>
            </a:r>
            <a:br>
              <a:rPr lang="en-US" b="1" dirty="0"/>
            </a:br>
            <a:endParaRPr lang="en-US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49EBF9-018B-B043-96EB-12A21642FBC2}"/>
              </a:ext>
            </a:extLst>
          </p:cNvPr>
          <p:cNvGrpSpPr/>
          <p:nvPr/>
        </p:nvGrpSpPr>
        <p:grpSpPr>
          <a:xfrm>
            <a:off x="4817674" y="0"/>
            <a:ext cx="7374326" cy="6891536"/>
            <a:chOff x="4354752" y="1825625"/>
            <a:chExt cx="4082359" cy="381509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207DC9-D5CE-1DF6-6EC0-3C23DD55380A}"/>
                </a:ext>
              </a:extLst>
            </p:cNvPr>
            <p:cNvPicPr>
              <a:picLocks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" r="72498" b="67778"/>
            <a:stretch>
              <a:fillRect/>
            </a:stretch>
          </p:blipFill>
          <p:spPr>
            <a:xfrm>
              <a:off x="4812568" y="1825625"/>
              <a:ext cx="3624543" cy="344728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9A7781-7EDD-3F54-7FE6-906E90A602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865" t="95088" r="44172" b="-866"/>
            <a:stretch>
              <a:fillRect/>
            </a:stretch>
          </p:blipFill>
          <p:spPr>
            <a:xfrm>
              <a:off x="6423819" y="5174982"/>
              <a:ext cx="1049914" cy="4657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A9A5AE-E1DE-DF30-A800-984743090382}"/>
                </a:ext>
              </a:extLst>
            </p:cNvPr>
            <p:cNvSpPr txBox="1"/>
            <p:nvPr/>
          </p:nvSpPr>
          <p:spPr>
            <a:xfrm rot="16200000">
              <a:off x="3659594" y="2865872"/>
              <a:ext cx="1845275" cy="45496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OD</a:t>
              </a:r>
              <a:r>
                <a:rPr lang="en-US" sz="3600" b="1" baseline="-25000" dirty="0"/>
                <a:t>600 nm</a:t>
              </a:r>
              <a:endParaRPr lang="en-US" sz="3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45784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95F36DB-8A66-45E5-4DE2-740B60DFA4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71" t="49095" r="64969" b="8518"/>
          <a:stretch/>
        </p:blipFill>
        <p:spPr>
          <a:xfrm>
            <a:off x="3267591" y="1169539"/>
            <a:ext cx="1335671" cy="2958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374D35-321C-08E8-81CC-76A0AE01B7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71" t="13457" r="64969" b="49509"/>
          <a:stretch/>
        </p:blipFill>
        <p:spPr>
          <a:xfrm>
            <a:off x="4354471" y="1093553"/>
            <a:ext cx="1530405" cy="29618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E64A-C8D2-7F3C-9415-F4BDE3261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2768" y="2733992"/>
            <a:ext cx="1814039" cy="542608"/>
          </a:xfrm>
        </p:spPr>
        <p:txBody>
          <a:bodyPr/>
          <a:lstStyle/>
          <a:p>
            <a:r>
              <a:rPr lang="en-US" dirty="0" err="1"/>
              <a:t>gridExtra</a:t>
            </a:r>
            <a:endParaRPr lang="en-US" dirty="0"/>
          </a:p>
        </p:txBody>
      </p:sp>
      <p:pic>
        <p:nvPicPr>
          <p:cNvPr id="13318" name="Picture 6" descr="Matplotlib: Intro to Subplots. Arguably one of the greatest data… | by  Jonathan C. | Medium">
            <a:extLst>
              <a:ext uri="{FF2B5EF4-FFF2-40B4-BE49-F238E27FC236}">
                <a16:creationId xmlns:a16="http://schemas.microsoft.com/office/drawing/2014/main" id="{34038157-5E08-5924-2EFB-27FAFAE8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00929"/>
            <a:ext cx="4706753" cy="86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8" descr="Citing and logo — seaborn 0.13.1 documentation">
            <a:extLst>
              <a:ext uri="{FF2B5EF4-FFF2-40B4-BE49-F238E27FC236}">
                <a16:creationId xmlns:a16="http://schemas.microsoft.com/office/drawing/2014/main" id="{27ADD280-1FE6-4439-48A3-2DD8E71AE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10" descr="Citing and logo — seaborn 0.13.1 documentation">
            <a:extLst>
              <a:ext uri="{FF2B5EF4-FFF2-40B4-BE49-F238E27FC236}">
                <a16:creationId xmlns:a16="http://schemas.microsoft.com/office/drawing/2014/main" id="{5C95A109-0D34-4653-3293-6140453029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2" descr="Citing and logo — seaborn 0.13.1 documentation">
            <a:extLst>
              <a:ext uri="{FF2B5EF4-FFF2-40B4-BE49-F238E27FC236}">
                <a16:creationId xmlns:a16="http://schemas.microsoft.com/office/drawing/2014/main" id="{365575E6-7F2B-0AFD-9ADE-E3449B89DE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78E0E9-AA5E-C93B-AFAD-E58357955E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3" t="11728" r="53163" b="67851"/>
          <a:stretch/>
        </p:blipFill>
        <p:spPr>
          <a:xfrm>
            <a:off x="1" y="5678218"/>
            <a:ext cx="4273050" cy="11760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E1FFB7-1615-27AB-CAFF-2B1184C7FA2C}"/>
              </a:ext>
            </a:extLst>
          </p:cNvPr>
          <p:cNvSpPr txBox="1"/>
          <p:nvPr/>
        </p:nvSpPr>
        <p:spPr>
          <a:xfrm>
            <a:off x="4774131" y="4446111"/>
            <a:ext cx="74178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Better default resolution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disk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ggplot’s</a:t>
            </a:r>
            <a:r>
              <a:rPr lang="en-US" dirty="0"/>
              <a:t> layered approach is simpler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Python’s programmatic approach promotes heavy customization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use R code and python code together </a:t>
            </a:r>
            <a:r>
              <a:rPr lang="en-US" b="1" dirty="0"/>
              <a:t>(see reticulate and subprocess)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8552BC-4185-16A5-A270-594576BB09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4043" t="11849" r="26774" b="73157"/>
          <a:stretch/>
        </p:blipFill>
        <p:spPr>
          <a:xfrm>
            <a:off x="5884875" y="2121893"/>
            <a:ext cx="6161129" cy="10283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383B15-CC90-798E-6DAF-399C5446F4F1}"/>
              </a:ext>
            </a:extLst>
          </p:cNvPr>
          <p:cNvSpPr txBox="1"/>
          <p:nvPr/>
        </p:nvSpPr>
        <p:spPr>
          <a:xfrm>
            <a:off x="6951133" y="17977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https://exts.ggplot2.tidyverse.org/gallery/</a:t>
            </a:r>
          </a:p>
        </p:txBody>
      </p:sp>
      <p:pic>
        <p:nvPicPr>
          <p:cNvPr id="13326" name="Picture 14">
            <a:extLst>
              <a:ext uri="{FF2B5EF4-FFF2-40B4-BE49-F238E27FC236}">
                <a16:creationId xmlns:a16="http://schemas.microsoft.com/office/drawing/2014/main" id="{DDDB0F0F-5901-266B-02C7-C3094FA9F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68" y="-47462"/>
            <a:ext cx="2951046" cy="221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568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14393</TotalTime>
  <Words>522</Words>
  <Application>Microsoft Office PowerPoint</Application>
  <PresentationFormat>Widescreen</PresentationFormat>
  <Paragraphs>94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Google Sans</vt:lpstr>
      <vt:lpstr>proxima-nova</vt:lpstr>
      <vt:lpstr>Roboto</vt:lpstr>
      <vt:lpstr>Times New Roman</vt:lpstr>
      <vt:lpstr>Office Theme</vt:lpstr>
      <vt:lpstr> Introduction to ggPlot </vt:lpstr>
      <vt:lpstr>Agenda and Learning Objectives</vt:lpstr>
      <vt:lpstr>You get the data, now what?</vt:lpstr>
      <vt:lpstr>Basic Plotting with R (Code chunk #1)</vt:lpstr>
      <vt:lpstr>PowerPoint Presentation</vt:lpstr>
      <vt:lpstr>Data</vt:lpstr>
      <vt:lpstr>PowerPoint Presentation</vt:lpstr>
      <vt:lpstr>Is this tidy data?</vt:lpstr>
      <vt:lpstr>PowerPoint Presentation</vt:lpstr>
      <vt:lpstr>Data Sets (Code Chunk #2a and 2b)</vt:lpstr>
      <vt:lpstr>Aesthetics (Code Chunk 3 and 3b)</vt:lpstr>
      <vt:lpstr>Geometries Code Chunk 4</vt:lpstr>
      <vt:lpstr>Back to Aesthetics (Code Chunk 5d)</vt:lpstr>
      <vt:lpstr>More Geometries, Multiple Geometries (Code Chunk 7)</vt:lpstr>
      <vt:lpstr>Themes</vt:lpstr>
      <vt:lpstr> Introduction to ggPlot Day 2 </vt:lpstr>
      <vt:lpstr>Building a Graph From Scratch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Introduction to ggPlot (AKA How to Make Pretty Graphs)</dc:title>
  <dc:creator>Alex Alon</dc:creator>
  <cp:lastModifiedBy>Alon,Alex</cp:lastModifiedBy>
  <cp:revision>257</cp:revision>
  <dcterms:created xsi:type="dcterms:W3CDTF">2024-01-27T21:28:39Z</dcterms:created>
  <dcterms:modified xsi:type="dcterms:W3CDTF">2026-03-17T18:53:05Z</dcterms:modified>
</cp:coreProperties>
</file>